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Roboto Black"/>
      <p:bold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Roboto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64B804-45CE-40D0-9E42-BF3C145D1178}">
  <a:tblStyle styleId="{EC64B804-45CE-40D0-9E42-BF3C145D117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Black-bold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Black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edium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obotoMedium-italic.fntdata"/><Relationship Id="rId27" Type="http://schemas.openxmlformats.org/officeDocument/2006/relationships/font" Target="fonts/Roboto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ee1186348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4ee118634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4ee1186348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4b6be5ab2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54b6be5ab2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54b6be5ab2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d6ca7d257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5d6ca7d257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5d6ca7d257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a07b31f3c_0_2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ba07b31f3c_0_2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ba07b31f3c_0_2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a07b31f3c_0_2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a07b31f3c_0_2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ba07b31f3c_0_2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a07b31f3c_0_2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ba07b31f3c_0_2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ba07b31f3c_0_2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4b6be5ab2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4b6be5ab2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54b6be5ab2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4b6be5ab2_1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54b6be5ab2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54b6be5ab2_1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4b6be5ab2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54b6be5ab2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54b6be5ab2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5d6ca7d257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5d6ca7d257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5d6ca7d257_0_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" type="body"/>
          </p:nvPr>
        </p:nvSpPr>
        <p:spPr>
          <a:xfrm>
            <a:off x="552180" y="1319129"/>
            <a:ext cx="8010000" cy="155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2691" y="5634647"/>
            <a:ext cx="3185846" cy="87926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/>
          <p:nvPr/>
        </p:nvSpPr>
        <p:spPr>
          <a:xfrm>
            <a:off x="9138667" y="1913338"/>
            <a:ext cx="548700" cy="5487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9075171" y="3527070"/>
            <a:ext cx="1445100" cy="14451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accent5">
              <a:alpha val="1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9084613" y="1064592"/>
            <a:ext cx="1447038" cy="723519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 rot="10800000">
            <a:off x="9072374" y="5142515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9848345" y="257493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 rot="5400000">
            <a:off x="9469441" y="2292243"/>
            <a:ext cx="1443609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9070087" y="2670943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 rot="5400000">
            <a:off x="10390135" y="1946977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 rot="-5400000">
            <a:off x="11169207" y="971625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 rot="5400000">
            <a:off x="9505445" y="5485416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9138667" y="5965476"/>
            <a:ext cx="548700" cy="548700"/>
          </a:xfrm>
          <a:prstGeom prst="ellipse">
            <a:avLst/>
          </a:prstGeom>
          <a:solidFill>
            <a:srgbClr val="9C2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 rot="-5400000">
            <a:off x="11508254" y="3133087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1580687" y="5634647"/>
            <a:ext cx="548700" cy="5487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0735321" y="627402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 rot="10800000">
            <a:off x="10733108" y="4760815"/>
            <a:ext cx="1460754" cy="730377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 rot="-5400000">
            <a:off x="10735321" y="5566067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 rot="-2700000">
            <a:off x="11611710" y="4009409"/>
            <a:ext cx="486631" cy="48663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1580687" y="2328447"/>
            <a:ext cx="548700" cy="5487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 rot="-5400000">
            <a:off x="10354131" y="3526478"/>
            <a:ext cx="1443609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 rot="5400000">
            <a:off x="8943644" y="126444"/>
            <a:ext cx="938686" cy="68579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 rot="-2700000">
            <a:off x="10095927" y="-94032"/>
            <a:ext cx="190788" cy="190787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070088" y="6652261"/>
            <a:ext cx="489913" cy="206901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 rot="5400000">
            <a:off x="10087795" y="6412811"/>
            <a:ext cx="206901" cy="68580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 rot="10800000">
            <a:off x="10733035" y="6514116"/>
            <a:ext cx="685800" cy="345045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138667" y="1913338"/>
            <a:ext cx="548700" cy="5487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084613" y="1064592"/>
            <a:ext cx="1447038" cy="723519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 rot="10800000">
            <a:off x="9072374" y="5142515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848345" y="257493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 rot="5400000">
            <a:off x="9469441" y="2292243"/>
            <a:ext cx="1443609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070087" y="2670943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 rot="5400000">
            <a:off x="10390135" y="1946977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 rot="-5400000">
            <a:off x="11169207" y="971625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 rot="5400000">
            <a:off x="9505445" y="5485416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138667" y="5965476"/>
            <a:ext cx="548700" cy="54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 rot="-5400000">
            <a:off x="11508254" y="3133087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580687" y="5634647"/>
            <a:ext cx="548700" cy="54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0735321" y="627402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 rot="10800000">
            <a:off x="10733108" y="4760815"/>
            <a:ext cx="1460754" cy="730377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 rot="-5400000">
            <a:off x="10735321" y="5566067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 rot="-2700000">
            <a:off x="11611710" y="4009409"/>
            <a:ext cx="486631" cy="48663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1580687" y="2328447"/>
            <a:ext cx="548700" cy="54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 rot="-5400000">
            <a:off x="10354131" y="3526478"/>
            <a:ext cx="1443609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 rot="5400000">
            <a:off x="8943644" y="126444"/>
            <a:ext cx="938686" cy="68579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 rot="-2700000">
            <a:off x="10095927" y="-94032"/>
            <a:ext cx="190788" cy="190787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 rot="-2700000">
            <a:off x="11130787" y="-340612"/>
            <a:ext cx="681226" cy="681225"/>
          </a:xfrm>
          <a:custGeom>
            <a:rect b="b" l="l" r="r" t="t"/>
            <a:pathLst>
              <a:path extrusionOk="0" h="680846" w="680847">
                <a:moveTo>
                  <a:pt x="1" y="0"/>
                </a:moveTo>
                <a:lnTo>
                  <a:pt x="680847" y="680846"/>
                </a:lnTo>
                <a:lnTo>
                  <a:pt x="0" y="6808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070088" y="6652261"/>
            <a:ext cx="489913" cy="206901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 rot="5400000">
            <a:off x="10087795" y="6412811"/>
            <a:ext cx="206901" cy="68580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10800000">
            <a:off x="10733035" y="6514116"/>
            <a:ext cx="685800" cy="345045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 rot="-2700000">
            <a:off x="11611761" y="6614561"/>
            <a:ext cx="486876" cy="486876"/>
          </a:xfrm>
          <a:custGeom>
            <a:rect b="b" l="l" r="r" t="t"/>
            <a:pathLst>
              <a:path extrusionOk="0" h="486605" w="486605">
                <a:moveTo>
                  <a:pt x="486605" y="0"/>
                </a:moveTo>
                <a:lnTo>
                  <a:pt x="486605" y="486605"/>
                </a:lnTo>
                <a:lnTo>
                  <a:pt x="484961" y="486605"/>
                </a:lnTo>
                <a:lnTo>
                  <a:pt x="0" y="1645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22691" y="3088209"/>
            <a:ext cx="1591500" cy="8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2214210" y="3088209"/>
            <a:ext cx="789300" cy="89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3003564" y="3088209"/>
            <a:ext cx="390900" cy="89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394333" y="3088209"/>
            <a:ext cx="212700" cy="8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>
            <p:ph idx="2" type="body"/>
          </p:nvPr>
        </p:nvSpPr>
        <p:spPr>
          <a:xfrm>
            <a:off x="552180" y="3389086"/>
            <a:ext cx="80100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>
  <p:cSld name="Agenda Slid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3"/>
          <p:cNvGrpSpPr/>
          <p:nvPr/>
        </p:nvGrpSpPr>
        <p:grpSpPr>
          <a:xfrm>
            <a:off x="26" y="271167"/>
            <a:ext cx="381631" cy="775169"/>
            <a:chOff x="2151529" y="1089212"/>
            <a:chExt cx="228398" cy="463923"/>
          </a:xfrm>
        </p:grpSpPr>
        <p:sp>
          <p:nvSpPr>
            <p:cNvPr id="74" name="Google Shape;74;p3"/>
            <p:cNvSpPr/>
            <p:nvPr/>
          </p:nvSpPr>
          <p:spPr>
            <a:xfrm>
              <a:off x="2151529" y="1089212"/>
              <a:ext cx="228398" cy="309282"/>
            </a:xfrm>
            <a:custGeom>
              <a:rect b="b" l="l" r="r" t="t"/>
              <a:pathLst>
                <a:path extrusionOk="0" h="309282" w="289112">
                  <a:moveTo>
                    <a:pt x="0" y="0"/>
                  </a:moveTo>
                  <a:lnTo>
                    <a:pt x="0" y="309282"/>
                  </a:lnTo>
                  <a:lnTo>
                    <a:pt x="289112" y="161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2151529" y="1243853"/>
              <a:ext cx="127747" cy="309282"/>
            </a:xfrm>
            <a:custGeom>
              <a:rect b="b" l="l" r="r" t="t"/>
              <a:pathLst>
                <a:path extrusionOk="0" h="309282" w="127747">
                  <a:moveTo>
                    <a:pt x="0" y="0"/>
                  </a:moveTo>
                  <a:lnTo>
                    <a:pt x="0" y="309282"/>
                  </a:lnTo>
                  <a:lnTo>
                    <a:pt x="127747" y="18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6" name="Google Shape;7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1408" y="6198029"/>
            <a:ext cx="1688251" cy="46594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 txBox="1"/>
          <p:nvPr>
            <p:ph idx="1" type="body"/>
          </p:nvPr>
        </p:nvSpPr>
        <p:spPr>
          <a:xfrm>
            <a:off x="440014" y="1295688"/>
            <a:ext cx="7675200" cy="46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"/>
          <p:cNvSpPr txBox="1"/>
          <p:nvPr/>
        </p:nvSpPr>
        <p:spPr>
          <a:xfrm>
            <a:off x="440014" y="271153"/>
            <a:ext cx="179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415659" y="6400800"/>
            <a:ext cx="328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2026 Miracle Software Systems, Inc. | #</a:t>
            </a:r>
            <a:fld id="{00000000-1234-1234-1234-123412341234}" type="slidenum">
              <a:rPr b="1"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3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 rot="5400000">
            <a:off x="10390135" y="1946977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 rot="-5400000">
            <a:off x="11169207" y="971625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 rot="-5400000">
            <a:off x="11508254" y="3133087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1580687" y="5634647"/>
            <a:ext cx="548700" cy="5487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0735321" y="627402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 rot="10800000">
            <a:off x="10733108" y="4760815"/>
            <a:ext cx="1460754" cy="730377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 rot="-5400000">
            <a:off x="10735321" y="5566067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 rot="-2700000">
            <a:off x="11611710" y="4009409"/>
            <a:ext cx="486631" cy="48663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1580687" y="2328447"/>
            <a:ext cx="548700" cy="5487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 rot="-5400000">
            <a:off x="10354131" y="3526478"/>
            <a:ext cx="1443609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 rot="10800000">
            <a:off x="10733035" y="6514116"/>
            <a:ext cx="685800" cy="345045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 rot="5400000">
            <a:off x="10390135" y="1946977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 rot="-5400000">
            <a:off x="11169207" y="971625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 rot="-5400000">
            <a:off x="11508254" y="3133087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1580687" y="5634647"/>
            <a:ext cx="548700" cy="54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0735321" y="627402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 rot="10800000">
            <a:off x="10733108" y="4760815"/>
            <a:ext cx="1460754" cy="730377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 rot="-5400000">
            <a:off x="10735321" y="5566067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 rot="-2700000">
            <a:off x="11611710" y="4009409"/>
            <a:ext cx="486631" cy="48663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1580687" y="2328447"/>
            <a:ext cx="548700" cy="54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 rot="-5400000">
            <a:off x="10354131" y="3526478"/>
            <a:ext cx="1443609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 rot="10800000">
            <a:off x="10733035" y="6514116"/>
            <a:ext cx="685800" cy="345045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 rot="-2700000">
            <a:off x="11611761" y="6614561"/>
            <a:ext cx="486876" cy="486876"/>
          </a:xfrm>
          <a:custGeom>
            <a:rect b="b" l="l" r="r" t="t"/>
            <a:pathLst>
              <a:path extrusionOk="0" h="486605" w="486605">
                <a:moveTo>
                  <a:pt x="486605" y="0"/>
                </a:moveTo>
                <a:lnTo>
                  <a:pt x="486605" y="486605"/>
                </a:lnTo>
                <a:lnTo>
                  <a:pt x="484961" y="486605"/>
                </a:lnTo>
                <a:lnTo>
                  <a:pt x="0" y="1645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 rot="-2700000">
            <a:off x="11130787" y="-340612"/>
            <a:ext cx="681226" cy="681225"/>
          </a:xfrm>
          <a:custGeom>
            <a:rect b="b" l="l" r="r" t="t"/>
            <a:pathLst>
              <a:path extrusionOk="0" h="680846" w="680847">
                <a:moveTo>
                  <a:pt x="1" y="0"/>
                </a:moveTo>
                <a:lnTo>
                  <a:pt x="680847" y="680846"/>
                </a:lnTo>
                <a:lnTo>
                  <a:pt x="0" y="6808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Slide">
  <p:cSld name="1_Content Slid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4"/>
          <p:cNvGrpSpPr/>
          <p:nvPr/>
        </p:nvGrpSpPr>
        <p:grpSpPr>
          <a:xfrm>
            <a:off x="26" y="271167"/>
            <a:ext cx="381631" cy="775169"/>
            <a:chOff x="2151529" y="1089212"/>
            <a:chExt cx="228398" cy="463923"/>
          </a:xfrm>
        </p:grpSpPr>
        <p:sp>
          <p:nvSpPr>
            <p:cNvPr id="106" name="Google Shape;106;p4"/>
            <p:cNvSpPr/>
            <p:nvPr/>
          </p:nvSpPr>
          <p:spPr>
            <a:xfrm>
              <a:off x="2151529" y="1089212"/>
              <a:ext cx="228398" cy="309282"/>
            </a:xfrm>
            <a:custGeom>
              <a:rect b="b" l="l" r="r" t="t"/>
              <a:pathLst>
                <a:path extrusionOk="0" h="309282" w="289112">
                  <a:moveTo>
                    <a:pt x="0" y="0"/>
                  </a:moveTo>
                  <a:lnTo>
                    <a:pt x="0" y="309282"/>
                  </a:lnTo>
                  <a:lnTo>
                    <a:pt x="289112" y="161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2151529" y="1243853"/>
              <a:ext cx="127747" cy="309282"/>
            </a:xfrm>
            <a:custGeom>
              <a:rect b="b" l="l" r="r" t="t"/>
              <a:pathLst>
                <a:path extrusionOk="0" h="309282" w="127747">
                  <a:moveTo>
                    <a:pt x="0" y="0"/>
                  </a:moveTo>
                  <a:lnTo>
                    <a:pt x="0" y="309282"/>
                  </a:lnTo>
                  <a:lnTo>
                    <a:pt x="127747" y="18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8" name="Google Shape;10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86630" y="6223429"/>
            <a:ext cx="1688251" cy="46594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415659" y="6400800"/>
            <a:ext cx="328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2026 Miracle Software Systems, Inc. | #</a:t>
            </a:r>
            <a:fld id="{00000000-1234-1234-1234-123412341234}" type="slidenum">
              <a:rPr b="1"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3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583507" y="166962"/>
            <a:ext cx="11076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"/>
          <p:cNvSpPr txBox="1"/>
          <p:nvPr>
            <p:ph idx="2" type="body"/>
          </p:nvPr>
        </p:nvSpPr>
        <p:spPr>
          <a:xfrm>
            <a:off x="368300" y="1269024"/>
            <a:ext cx="112920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Content Slid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604432" y="1319129"/>
            <a:ext cx="8010000" cy="155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5"/>
          <p:cNvSpPr txBox="1"/>
          <p:nvPr>
            <p:ph idx="2" type="body"/>
          </p:nvPr>
        </p:nvSpPr>
        <p:spPr>
          <a:xfrm>
            <a:off x="604432" y="3389086"/>
            <a:ext cx="80100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5"/>
          <p:cNvSpPr/>
          <p:nvPr/>
        </p:nvSpPr>
        <p:spPr>
          <a:xfrm>
            <a:off x="674943" y="3088209"/>
            <a:ext cx="1591500" cy="8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2266462" y="3088209"/>
            <a:ext cx="789300" cy="89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055816" y="3088209"/>
            <a:ext cx="390900" cy="89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446585" y="3088209"/>
            <a:ext cx="212700" cy="8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0809157" y="1913338"/>
            <a:ext cx="548700" cy="5487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0745661" y="3527070"/>
            <a:ext cx="1445100" cy="14451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accent5">
              <a:alpha val="1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0755103" y="1064592"/>
            <a:ext cx="1447038" cy="723519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 rot="10800000">
            <a:off x="10742864" y="5142515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1518835" y="257493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 rot="5400000">
            <a:off x="11139931" y="2292243"/>
            <a:ext cx="1443609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0740577" y="2670943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 rot="5400000">
            <a:off x="11175935" y="5485416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0809157" y="5965476"/>
            <a:ext cx="548700" cy="548700"/>
          </a:xfrm>
          <a:prstGeom prst="ellipse">
            <a:avLst/>
          </a:prstGeom>
          <a:solidFill>
            <a:srgbClr val="9C2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 rot="5400000">
            <a:off x="10614134" y="126444"/>
            <a:ext cx="938686" cy="68579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 rot="-2700000">
            <a:off x="11766417" y="-94032"/>
            <a:ext cx="190788" cy="190787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0740578" y="6652261"/>
            <a:ext cx="489913" cy="206901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 rot="5400000">
            <a:off x="11758285" y="6412811"/>
            <a:ext cx="206901" cy="68580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0809157" y="1913338"/>
            <a:ext cx="548700" cy="5487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0755103" y="1064592"/>
            <a:ext cx="1447038" cy="723519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 rot="10800000">
            <a:off x="10742864" y="5142515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1518835" y="257493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 rot="5400000">
            <a:off x="11139931" y="2292243"/>
            <a:ext cx="1443609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0740577" y="2670943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 rot="5400000">
            <a:off x="11175935" y="5485416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0809157" y="5965476"/>
            <a:ext cx="548700" cy="54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 rot="5400000">
            <a:off x="10614134" y="126444"/>
            <a:ext cx="938686" cy="68579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 rot="-2700000">
            <a:off x="11766417" y="-94032"/>
            <a:ext cx="190788" cy="190787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0740578" y="6652261"/>
            <a:ext cx="489913" cy="206901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 rot="5400000">
            <a:off x="11758285" y="6412811"/>
            <a:ext cx="206901" cy="68580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1408" y="6198029"/>
            <a:ext cx="1688251" cy="46594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415659" y="6400800"/>
            <a:ext cx="328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2026 Miracle Software Systems, Inc. | #</a:t>
            </a:r>
            <a:fld id="{00000000-1234-1234-1234-123412341234}" type="slidenum">
              <a:rPr b="1"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3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6"/>
          <p:cNvGrpSpPr/>
          <p:nvPr/>
        </p:nvGrpSpPr>
        <p:grpSpPr>
          <a:xfrm>
            <a:off x="3439610" y="1832002"/>
            <a:ext cx="5312700" cy="3560497"/>
            <a:chOff x="3525290" y="1832002"/>
            <a:chExt cx="5312700" cy="3560497"/>
          </a:xfrm>
        </p:grpSpPr>
        <p:sp>
          <p:nvSpPr>
            <p:cNvPr id="148" name="Google Shape;148;p6"/>
            <p:cNvSpPr txBox="1"/>
            <p:nvPr/>
          </p:nvSpPr>
          <p:spPr>
            <a:xfrm>
              <a:off x="4088912" y="1832002"/>
              <a:ext cx="40143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THANK YOU</a:t>
              </a: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3525290" y="2869188"/>
              <a:ext cx="5312700" cy="1935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0" name="Google Shape;150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958898" y="3223523"/>
              <a:ext cx="4445565" cy="12269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6"/>
            <p:cNvSpPr/>
            <p:nvPr/>
          </p:nvSpPr>
          <p:spPr>
            <a:xfrm>
              <a:off x="4175152" y="4804799"/>
              <a:ext cx="4092900" cy="587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4957344" y="4889650"/>
              <a:ext cx="252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www.miraclesoft.com</a:t>
              </a:r>
              <a:endParaRPr/>
            </a:p>
          </p:txBody>
        </p:sp>
      </p:grpSp>
      <p:sp>
        <p:nvSpPr>
          <p:cNvPr id="153" name="Google Shape;153;p6"/>
          <p:cNvSpPr/>
          <p:nvPr/>
        </p:nvSpPr>
        <p:spPr>
          <a:xfrm>
            <a:off x="68580" y="1913338"/>
            <a:ext cx="548700" cy="5487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084" y="3527070"/>
            <a:ext cx="1445100" cy="14451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accent5">
              <a:alpha val="1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4526" y="1064592"/>
            <a:ext cx="1447038" cy="723519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 rot="10800000">
            <a:off x="2287" y="5142515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78258" y="257493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 rot="5400000">
            <a:off x="399354" y="2292243"/>
            <a:ext cx="1443609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0" y="2670943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 rot="5400000">
            <a:off x="10390135" y="1946977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 rot="-5400000">
            <a:off x="11169207" y="971625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 rot="5400000">
            <a:off x="435358" y="5485416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8580" y="5965476"/>
            <a:ext cx="548700" cy="548700"/>
          </a:xfrm>
          <a:prstGeom prst="ellipse">
            <a:avLst/>
          </a:prstGeom>
          <a:solidFill>
            <a:srgbClr val="9C2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 rot="-5400000">
            <a:off x="11508254" y="3133087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1580687" y="5634647"/>
            <a:ext cx="548700" cy="5487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0735321" y="627402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 rot="10800000">
            <a:off x="10733108" y="4760815"/>
            <a:ext cx="1460754" cy="730377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 rot="-5400000">
            <a:off x="10735321" y="5566067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 rot="-2700000">
            <a:off x="11611710" y="4009409"/>
            <a:ext cx="486631" cy="48663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1580687" y="2328447"/>
            <a:ext cx="548700" cy="5487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 rot="-5400000">
            <a:off x="10354131" y="3526478"/>
            <a:ext cx="1443609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 rot="5400000">
            <a:off x="-126443" y="126444"/>
            <a:ext cx="938686" cy="68579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 rot="-2700000">
            <a:off x="1025840" y="-94032"/>
            <a:ext cx="190788" cy="190787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" y="6652261"/>
            <a:ext cx="489913" cy="206901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 rot="5400000">
            <a:off x="1017708" y="6412811"/>
            <a:ext cx="206901" cy="68580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 rot="10800000">
            <a:off x="10733035" y="6514116"/>
            <a:ext cx="685800" cy="345045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8580" y="1913338"/>
            <a:ext cx="548700" cy="5487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4526" y="1064592"/>
            <a:ext cx="1447038" cy="723519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 rot="10800000">
            <a:off x="2287" y="5142515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78258" y="257493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 rot="5400000">
            <a:off x="399354" y="2292243"/>
            <a:ext cx="1443609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0" y="2670943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 rot="5400000">
            <a:off x="10390135" y="1946977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 rot="-5400000">
            <a:off x="11169207" y="971625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 rot="5400000">
            <a:off x="435358" y="5485416"/>
            <a:ext cx="1371600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8580" y="5965476"/>
            <a:ext cx="548700" cy="54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 rot="-5400000">
            <a:off x="11508254" y="3133087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1580687" y="5634647"/>
            <a:ext cx="548700" cy="54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0735321" y="627402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 rot="10800000">
            <a:off x="10733108" y="4760815"/>
            <a:ext cx="1460754" cy="730377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 rot="-5400000">
            <a:off x="10735321" y="5566067"/>
            <a:ext cx="681228" cy="68580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 rot="-2700000">
            <a:off x="11611710" y="4009409"/>
            <a:ext cx="486631" cy="48663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1580687" y="2328447"/>
            <a:ext cx="548700" cy="54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 rot="-5400000">
            <a:off x="10354131" y="3526478"/>
            <a:ext cx="1443609" cy="68580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 rot="5400000">
            <a:off x="-126443" y="126444"/>
            <a:ext cx="938686" cy="68579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 rot="-2700000">
            <a:off x="1025840" y="-94032"/>
            <a:ext cx="190788" cy="190787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" y="6652261"/>
            <a:ext cx="489913" cy="206901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 rot="5400000">
            <a:off x="1017708" y="6412811"/>
            <a:ext cx="206901" cy="68580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 rot="10800000">
            <a:off x="10733035" y="6514116"/>
            <a:ext cx="685800" cy="345045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 rot="-2700000">
            <a:off x="11611761" y="6614561"/>
            <a:ext cx="486876" cy="486876"/>
          </a:xfrm>
          <a:custGeom>
            <a:rect b="b" l="l" r="r" t="t"/>
            <a:pathLst>
              <a:path extrusionOk="0" h="486605" w="486605">
                <a:moveTo>
                  <a:pt x="486605" y="0"/>
                </a:moveTo>
                <a:lnTo>
                  <a:pt x="486605" y="486605"/>
                </a:lnTo>
                <a:lnTo>
                  <a:pt x="484961" y="486605"/>
                </a:lnTo>
                <a:lnTo>
                  <a:pt x="0" y="1645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 rot="-2700000">
            <a:off x="11130787" y="-340612"/>
            <a:ext cx="681226" cy="681225"/>
          </a:xfrm>
          <a:custGeom>
            <a:rect b="b" l="l" r="r" t="t"/>
            <a:pathLst>
              <a:path extrusionOk="0" h="680846" w="680847">
                <a:moveTo>
                  <a:pt x="1" y="0"/>
                </a:moveTo>
                <a:lnTo>
                  <a:pt x="680847" y="680846"/>
                </a:lnTo>
                <a:lnTo>
                  <a:pt x="0" y="6808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Slide">
  <p:cSld name="2_Content Slide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7"/>
          <p:cNvGrpSpPr/>
          <p:nvPr/>
        </p:nvGrpSpPr>
        <p:grpSpPr>
          <a:xfrm>
            <a:off x="26" y="271167"/>
            <a:ext cx="381631" cy="775169"/>
            <a:chOff x="2151529" y="1089212"/>
            <a:chExt cx="228398" cy="463923"/>
          </a:xfrm>
        </p:grpSpPr>
        <p:sp>
          <p:nvSpPr>
            <p:cNvPr id="204" name="Google Shape;204;p7"/>
            <p:cNvSpPr/>
            <p:nvPr/>
          </p:nvSpPr>
          <p:spPr>
            <a:xfrm>
              <a:off x="2151529" y="1089212"/>
              <a:ext cx="228398" cy="309282"/>
            </a:xfrm>
            <a:custGeom>
              <a:rect b="b" l="l" r="r" t="t"/>
              <a:pathLst>
                <a:path extrusionOk="0" h="309282" w="289112">
                  <a:moveTo>
                    <a:pt x="0" y="0"/>
                  </a:moveTo>
                  <a:lnTo>
                    <a:pt x="0" y="309282"/>
                  </a:lnTo>
                  <a:lnTo>
                    <a:pt x="289112" y="161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2151529" y="1243853"/>
              <a:ext cx="127747" cy="309282"/>
            </a:xfrm>
            <a:custGeom>
              <a:rect b="b" l="l" r="r" t="t"/>
              <a:pathLst>
                <a:path extrusionOk="0" h="309282" w="127747">
                  <a:moveTo>
                    <a:pt x="0" y="0"/>
                  </a:moveTo>
                  <a:lnTo>
                    <a:pt x="0" y="309282"/>
                  </a:lnTo>
                  <a:lnTo>
                    <a:pt x="127747" y="18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6" name="Google Shape;20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86630" y="6223429"/>
            <a:ext cx="1688251" cy="46594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 txBox="1"/>
          <p:nvPr/>
        </p:nvSpPr>
        <p:spPr>
          <a:xfrm>
            <a:off x="415659" y="6400800"/>
            <a:ext cx="328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2025 Miracle Software Systems, Inc. | #</a:t>
            </a:r>
            <a:fld id="{00000000-1234-1234-1234-123412341234}" type="slidenum">
              <a:rPr b="1"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3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>
            <p:ph idx="1" type="body"/>
          </p:nvPr>
        </p:nvSpPr>
        <p:spPr>
          <a:xfrm>
            <a:off x="583507" y="166962"/>
            <a:ext cx="11076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7"/>
          <p:cNvSpPr txBox="1"/>
          <p:nvPr>
            <p:ph idx="2" type="body"/>
          </p:nvPr>
        </p:nvSpPr>
        <p:spPr>
          <a:xfrm>
            <a:off x="368300" y="1269024"/>
            <a:ext cx="112920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Slide">
  <p:cSld name="Comparison Slide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 txBox="1"/>
          <p:nvPr>
            <p:ph idx="1" type="body"/>
          </p:nvPr>
        </p:nvSpPr>
        <p:spPr>
          <a:xfrm>
            <a:off x="583507" y="166962"/>
            <a:ext cx="11076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8"/>
          <p:cNvSpPr txBox="1"/>
          <p:nvPr>
            <p:ph idx="2" type="body"/>
          </p:nvPr>
        </p:nvSpPr>
        <p:spPr>
          <a:xfrm>
            <a:off x="579315" y="2061478"/>
            <a:ext cx="5324100" cy="3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8"/>
          <p:cNvSpPr txBox="1"/>
          <p:nvPr>
            <p:ph idx="3" type="body"/>
          </p:nvPr>
        </p:nvSpPr>
        <p:spPr>
          <a:xfrm>
            <a:off x="6321780" y="2061478"/>
            <a:ext cx="5324100" cy="3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8"/>
          <p:cNvSpPr/>
          <p:nvPr/>
        </p:nvSpPr>
        <p:spPr>
          <a:xfrm>
            <a:off x="579316" y="1295674"/>
            <a:ext cx="4731600" cy="540600"/>
          </a:xfrm>
          <a:prstGeom prst="rect">
            <a:avLst/>
          </a:prstGeom>
          <a:solidFill>
            <a:srgbClr val="E1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311048" y="1298780"/>
            <a:ext cx="316738" cy="535178"/>
          </a:xfrm>
          <a:custGeom>
            <a:rect b="b" l="l" r="r" t="t"/>
            <a:pathLst>
              <a:path extrusionOk="0" h="622300" w="368300">
                <a:moveTo>
                  <a:pt x="0" y="0"/>
                </a:moveTo>
                <a:lnTo>
                  <a:pt x="368300" y="1016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311050" y="1505510"/>
            <a:ext cx="386746" cy="328734"/>
          </a:xfrm>
          <a:custGeom>
            <a:rect b="b" l="l" r="r" t="t"/>
            <a:pathLst>
              <a:path extrusionOk="0" h="382249" w="449705">
                <a:moveTo>
                  <a:pt x="0" y="382249"/>
                </a:moveTo>
                <a:lnTo>
                  <a:pt x="262328" y="0"/>
                </a:lnTo>
                <a:lnTo>
                  <a:pt x="449705" y="179882"/>
                </a:lnTo>
                <a:lnTo>
                  <a:pt x="0" y="382249"/>
                </a:lnTo>
                <a:close/>
              </a:path>
            </a:pathLst>
          </a:custGeom>
          <a:solidFill>
            <a:schemeClr val="accen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321780" y="1295674"/>
            <a:ext cx="4731600" cy="540600"/>
          </a:xfrm>
          <a:prstGeom prst="rect">
            <a:avLst/>
          </a:prstGeom>
          <a:solidFill>
            <a:srgbClr val="E1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1053514" y="1298780"/>
            <a:ext cx="316738" cy="535178"/>
          </a:xfrm>
          <a:custGeom>
            <a:rect b="b" l="l" r="r" t="t"/>
            <a:pathLst>
              <a:path extrusionOk="0" h="622300" w="368300">
                <a:moveTo>
                  <a:pt x="0" y="0"/>
                </a:moveTo>
                <a:lnTo>
                  <a:pt x="368300" y="1016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1053514" y="1505510"/>
            <a:ext cx="386746" cy="328734"/>
          </a:xfrm>
          <a:custGeom>
            <a:rect b="b" l="l" r="r" t="t"/>
            <a:pathLst>
              <a:path extrusionOk="0" h="382249" w="449705">
                <a:moveTo>
                  <a:pt x="0" y="382249"/>
                </a:moveTo>
                <a:lnTo>
                  <a:pt x="262328" y="0"/>
                </a:lnTo>
                <a:lnTo>
                  <a:pt x="449705" y="179882"/>
                </a:lnTo>
                <a:lnTo>
                  <a:pt x="0" y="382249"/>
                </a:lnTo>
                <a:close/>
              </a:path>
            </a:pathLst>
          </a:custGeom>
          <a:solidFill>
            <a:srgbClr val="EF40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 txBox="1"/>
          <p:nvPr>
            <p:ph idx="4" type="body"/>
          </p:nvPr>
        </p:nvSpPr>
        <p:spPr>
          <a:xfrm>
            <a:off x="660278" y="1362635"/>
            <a:ext cx="44451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8"/>
          <p:cNvSpPr txBox="1"/>
          <p:nvPr>
            <p:ph idx="5" type="body"/>
          </p:nvPr>
        </p:nvSpPr>
        <p:spPr>
          <a:xfrm>
            <a:off x="6418780" y="1362635"/>
            <a:ext cx="44451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22" name="Google Shape;22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86630" y="6223429"/>
            <a:ext cx="1688251" cy="46594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 txBox="1"/>
          <p:nvPr/>
        </p:nvSpPr>
        <p:spPr>
          <a:xfrm>
            <a:off x="415659" y="6400800"/>
            <a:ext cx="328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2025 Miracle Software Systems, Inc. | #</a:t>
            </a:r>
            <a:fld id="{00000000-1234-1234-1234-123412341234}" type="slidenum">
              <a:rPr b="1" lang="en-US" sz="13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3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p8"/>
          <p:cNvGrpSpPr/>
          <p:nvPr/>
        </p:nvGrpSpPr>
        <p:grpSpPr>
          <a:xfrm>
            <a:off x="26" y="271167"/>
            <a:ext cx="381631" cy="775169"/>
            <a:chOff x="2151529" y="1089212"/>
            <a:chExt cx="228398" cy="463923"/>
          </a:xfrm>
        </p:grpSpPr>
        <p:sp>
          <p:nvSpPr>
            <p:cNvPr id="225" name="Google Shape;225;p8"/>
            <p:cNvSpPr/>
            <p:nvPr/>
          </p:nvSpPr>
          <p:spPr>
            <a:xfrm>
              <a:off x="2151529" y="1089212"/>
              <a:ext cx="228398" cy="309282"/>
            </a:xfrm>
            <a:custGeom>
              <a:rect b="b" l="l" r="r" t="t"/>
              <a:pathLst>
                <a:path extrusionOk="0" h="309282" w="289112">
                  <a:moveTo>
                    <a:pt x="0" y="0"/>
                  </a:moveTo>
                  <a:lnTo>
                    <a:pt x="0" y="309282"/>
                  </a:lnTo>
                  <a:lnTo>
                    <a:pt x="289112" y="161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2151529" y="1243853"/>
              <a:ext cx="127747" cy="309282"/>
            </a:xfrm>
            <a:custGeom>
              <a:rect b="b" l="l" r="r" t="t"/>
              <a:pathLst>
                <a:path extrusionOk="0" h="309282" w="127747">
                  <a:moveTo>
                    <a:pt x="0" y="0"/>
                  </a:moveTo>
                  <a:lnTo>
                    <a:pt x="0" y="309282"/>
                  </a:lnTo>
                  <a:lnTo>
                    <a:pt x="127747" y="18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 txBox="1"/>
          <p:nvPr>
            <p:ph idx="1" type="body"/>
          </p:nvPr>
        </p:nvSpPr>
        <p:spPr>
          <a:xfrm>
            <a:off x="552175" y="647275"/>
            <a:ext cx="9262200" cy="22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rPr b="0" lang="en-US" sz="6000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rPr>
              <a:t>Jira AI Bug Agent</a:t>
            </a:r>
            <a:endParaRPr b="0" sz="6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t/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552175" y="3429000"/>
            <a:ext cx="92622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Revolutionizing Issue Management with </a:t>
            </a:r>
            <a:endParaRPr b="1"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MuleSoft AI Chain</a:t>
            </a:r>
            <a:endParaRPr b="1"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 txBox="1"/>
          <p:nvPr>
            <p:ph idx="1" type="body"/>
          </p:nvPr>
        </p:nvSpPr>
        <p:spPr>
          <a:xfrm>
            <a:off x="557707" y="642512"/>
            <a:ext cx="11076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32427"/>
              </a:buClr>
              <a:buSzPts val="3200"/>
              <a:buNone/>
            </a:pPr>
            <a:r>
              <a:rPr b="1" lang="en-US" sz="3600">
                <a:solidFill>
                  <a:srgbClr val="232427"/>
                </a:solidFill>
                <a:latin typeface="Roboto"/>
                <a:ea typeface="Roboto"/>
                <a:cs typeface="Roboto"/>
                <a:sym typeface="Roboto"/>
              </a:rPr>
              <a:t>The Problem: Manual Analysis Bottlenecks</a:t>
            </a:r>
            <a:endParaRPr sz="3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10"/>
          <p:cNvSpPr txBox="1"/>
          <p:nvPr>
            <p:ph idx="2" type="body"/>
          </p:nvPr>
        </p:nvSpPr>
        <p:spPr>
          <a:xfrm>
            <a:off x="343275" y="1919800"/>
            <a:ext cx="62643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Overload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projects generate hundreds of comments and complex descriptions that are time-consuming to process manually.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Subjectivity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sentiment assessment is often inconsistent across different support representatives, leading to unreliable data.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Delayed Action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time spent manually summarizing cases delays the actual resolution of critical bugs, impacting customer satisfaction.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125" lvl="0" marL="228594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</p:txBody>
      </p:sp>
      <p:pic>
        <p:nvPicPr>
          <p:cNvPr id="239" name="Google Shape;23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0075" y="1919794"/>
            <a:ext cx="4800025" cy="4269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/>
          <p:nvPr/>
        </p:nvSpPr>
        <p:spPr>
          <a:xfrm>
            <a:off x="901050" y="675775"/>
            <a:ext cx="1002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3600">
                <a:latin typeface="Roboto Black"/>
                <a:ea typeface="Roboto Black"/>
                <a:cs typeface="Roboto Black"/>
                <a:sym typeface="Roboto Black"/>
              </a:rPr>
              <a:t>Our Solution: A Unified &amp; Intelligent Platform</a:t>
            </a:r>
            <a:endParaRPr sz="36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900975" y="1564325"/>
            <a:ext cx="100242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on the MuleSoft Anypoint Platform, the Jira AI Bug Agent leverages enterprise-grade integration capabilities to deliver a reliable, automated, and intelligent issue management workflow.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901050" y="2690525"/>
            <a:ext cx="10024200" cy="27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/>
              <a:t>AI-Powered Core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Utilizes the MuleSoft AI Chain Connector to orchestrate complex AI workflows and LLM interactions.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/>
              <a:t>Automated Workflow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Triggered by Jira events to perform real-time analysis and summarization without human intervention.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/>
              <a:t>Bi-Directional Sync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/>
              <a:t>Automatically fetches issue data and writes back AI-generated insights directly into Jira custom fields.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>
            <p:ph idx="1" type="body"/>
          </p:nvPr>
        </p:nvSpPr>
        <p:spPr>
          <a:xfrm>
            <a:off x="583507" y="166962"/>
            <a:ext cx="11076600" cy="86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rPr>
              <a:t>Technical Architecture</a:t>
            </a:r>
            <a:endParaRPr sz="36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254" name="Google Shape;25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500" y="1609737"/>
            <a:ext cx="3657600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 txBox="1"/>
          <p:nvPr/>
        </p:nvSpPr>
        <p:spPr>
          <a:xfrm>
            <a:off x="4944650" y="1247988"/>
            <a:ext cx="65076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/>
              <a:t>Event-Driven Design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The system listens for Jira webhooks to initiate the AI Agent flow, ensuring real-time responsiveness.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/>
              <a:t>MuleSoft AI Chain (MAC)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/>
              <a:t>Acts as the orchestration layer, seamlessly connecting MuleSoft flows to advanced LLMs like GPT-4o-mini.</a:t>
            </a:r>
            <a:endParaRPr sz="1800"/>
          </a:p>
        </p:txBody>
      </p:sp>
      <p:graphicFrame>
        <p:nvGraphicFramePr>
          <p:cNvPr id="256" name="Google Shape;256;p12"/>
          <p:cNvGraphicFramePr/>
          <p:nvPr/>
        </p:nvGraphicFramePr>
        <p:xfrm>
          <a:off x="4944650" y="376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{EC64B804-45CE-40D0-9E42-BF3C145D1178}</a:tableStyleId>
              </a:tblPr>
              <a:tblGrid>
                <a:gridCol w="3357725"/>
                <a:gridCol w="3357725"/>
              </a:tblGrid>
              <a:tr h="3905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lang="en-US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Modular Components</a:t>
                      </a:r>
                      <a:endParaRPr b="1"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JIRA CONNECTOR</a:t>
                      </a:r>
                      <a:endParaRPr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AI CHAIN CONFIG</a:t>
                      </a:r>
                      <a:endParaRPr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OBJECT STORE</a:t>
                      </a:r>
                      <a:endParaRPr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DATAWEAVE 2.0</a:t>
                      </a:r>
                      <a:endParaRPr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/>
          <p:nvPr>
            <p:ph idx="1" type="body"/>
          </p:nvPr>
        </p:nvSpPr>
        <p:spPr>
          <a:xfrm>
            <a:off x="583500" y="367165"/>
            <a:ext cx="10804800" cy="157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rPr>
              <a:t>Core AI Capabilities</a:t>
            </a:r>
            <a:endParaRPr sz="33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583500" y="1852175"/>
            <a:ext cx="104043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latin typeface="Roboto"/>
                <a:ea typeface="Roboto"/>
                <a:cs typeface="Roboto"/>
                <a:sym typeface="Roboto"/>
              </a:rPr>
              <a:t>Intelligent Summarization</a:t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Builds a concise case view from summaries, descriptions, and comments.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Applies a support-rep persona for accurate, single-sentence summaries.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Generates clear next steps to guide the development team.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latin typeface="Roboto"/>
                <a:ea typeface="Roboto"/>
                <a:cs typeface="Roboto"/>
                <a:sym typeface="Roboto"/>
              </a:rPr>
              <a:t>Automated Sentiment Analysis</a:t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Instantly assesses the emotional tone of interactions.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Stores sentiment scores directly in Jira custom fields for reporting.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Converts qualitative feedback into consistent, unbiased metrics.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Helps teams prioritize issues with high customer frustration.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/>
          <p:nvPr>
            <p:ph idx="1" type="body"/>
          </p:nvPr>
        </p:nvSpPr>
        <p:spPr>
          <a:xfrm>
            <a:off x="450000" y="841525"/>
            <a:ext cx="112920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rPr>
              <a:t>Under the Hood: How It Works</a:t>
            </a:r>
            <a:endParaRPr sz="36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450050" y="2088300"/>
            <a:ext cx="11292000" cy="3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latin typeface="Roboto"/>
                <a:ea typeface="Roboto"/>
                <a:cs typeface="Roboto"/>
                <a:sym typeface="Roboto"/>
              </a:rPr>
              <a:t>Orchestration</a:t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Scatter-Gather pattern for concurrent processing.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Global Error Handler for reliability and logging.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latin typeface="Roboto"/>
                <a:ea typeface="Roboto"/>
                <a:cs typeface="Roboto"/>
                <a:sym typeface="Roboto"/>
              </a:rPr>
              <a:t>Transformation</a:t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DataWeave 2.0 converts Jira responses to AI-ready payloads.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Aggregates issue descriptions and comments.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latin typeface="Roboto"/>
                <a:ea typeface="Roboto"/>
                <a:cs typeface="Roboto"/>
                <a:sym typeface="Roboto"/>
              </a:rPr>
              <a:t>Security</a:t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Secure Properties for externalized credentials.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900">
                <a:latin typeface="Roboto"/>
                <a:ea typeface="Roboto"/>
                <a:cs typeface="Roboto"/>
                <a:sym typeface="Roboto"/>
              </a:rPr>
              <a:t>Object Store for efficient state management.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2850"/>
            <a:ext cx="11887201" cy="4534293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5"/>
          <p:cNvSpPr txBox="1"/>
          <p:nvPr/>
        </p:nvSpPr>
        <p:spPr>
          <a:xfrm>
            <a:off x="388725" y="814550"/>
            <a:ext cx="41742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Project</a:t>
            </a:r>
            <a:r>
              <a:rPr lang="en-US" sz="36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 Flow</a:t>
            </a:r>
            <a:endParaRPr sz="36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475" y="1039501"/>
            <a:ext cx="11887199" cy="49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6"/>
          <p:cNvSpPr txBox="1"/>
          <p:nvPr/>
        </p:nvSpPr>
        <p:spPr>
          <a:xfrm>
            <a:off x="4350150" y="5253800"/>
            <a:ext cx="34917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Flow</a:t>
            </a:r>
            <a:endParaRPr b="1" sz="3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713475" y="369050"/>
            <a:ext cx="41742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Project Flow</a:t>
            </a:r>
            <a:endParaRPr sz="36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75" y="938575"/>
            <a:ext cx="36004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0925" y="1152088"/>
            <a:ext cx="26670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7"/>
          <p:cNvSpPr txBox="1"/>
          <p:nvPr/>
        </p:nvSpPr>
        <p:spPr>
          <a:xfrm>
            <a:off x="640475" y="4136125"/>
            <a:ext cx="2940900" cy="9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Subflows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17"/>
          <p:cNvSpPr txBox="1"/>
          <p:nvPr/>
        </p:nvSpPr>
        <p:spPr>
          <a:xfrm>
            <a:off x="4506650" y="4217425"/>
            <a:ext cx="24153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Health Check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5" name="Google Shape;29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0725" y="914188"/>
            <a:ext cx="2824000" cy="322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7"/>
          <p:cNvSpPr txBox="1"/>
          <p:nvPr/>
        </p:nvSpPr>
        <p:spPr>
          <a:xfrm>
            <a:off x="7959275" y="4217425"/>
            <a:ext cx="28158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Choice Router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712725" y="413800"/>
            <a:ext cx="41742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Project Flow</a:t>
            </a:r>
            <a:endParaRPr sz="36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"/>
          <p:cNvSpPr txBox="1"/>
          <p:nvPr>
            <p:ph idx="1" type="body"/>
          </p:nvPr>
        </p:nvSpPr>
        <p:spPr>
          <a:xfrm>
            <a:off x="557707" y="1255737"/>
            <a:ext cx="11076600" cy="86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rPr>
              <a:t>Tangible Business Impact</a:t>
            </a:r>
            <a:endParaRPr sz="36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557700" y="2590500"/>
            <a:ext cx="11076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latin typeface="Roboto"/>
                <a:ea typeface="Roboto"/>
                <a:cs typeface="Roboto"/>
                <a:sym typeface="Roboto"/>
              </a:rPr>
              <a:t>70% Time Savings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latin typeface="Roboto"/>
                <a:ea typeface="Roboto"/>
                <a:cs typeface="Roboto"/>
                <a:sym typeface="Roboto"/>
              </a:rPr>
              <a:t>Significant reduction in manual effort spent on bug triaging and case summarization.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latin typeface="Roboto"/>
                <a:ea typeface="Roboto"/>
                <a:cs typeface="Roboto"/>
                <a:sym typeface="Roboto"/>
              </a:rPr>
              <a:t>Improved Accuracy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latin typeface="Roboto"/>
                <a:ea typeface="Roboto"/>
                <a:cs typeface="Roboto"/>
                <a:sym typeface="Roboto"/>
              </a:rPr>
              <a:t>Elimination of human error and subjectivity in sentiment tracking and issue analysis.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latin typeface="Roboto"/>
                <a:ea typeface="Roboto"/>
                <a:cs typeface="Roboto"/>
                <a:sym typeface="Roboto"/>
              </a:rPr>
              <a:t>Faster Resolution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>
                <a:latin typeface="Roboto"/>
                <a:ea typeface="Roboto"/>
                <a:cs typeface="Roboto"/>
                <a:sym typeface="Roboto"/>
              </a:rPr>
              <a:t>Immediate context for developers leads to quicker bug fixes and improved system reliability.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"/>
          <p:cNvSpPr txBox="1"/>
          <p:nvPr>
            <p:ph idx="1" type="body"/>
          </p:nvPr>
        </p:nvSpPr>
        <p:spPr>
          <a:xfrm>
            <a:off x="557707" y="930362"/>
            <a:ext cx="11076600" cy="86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3700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rPr>
              <a:t>The Path Ahead</a:t>
            </a:r>
            <a:endParaRPr sz="3800">
              <a:highlight>
                <a:srgbClr val="FFFFFF"/>
              </a:highlight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557700" y="2177525"/>
            <a:ext cx="11076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Advanced RAG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Integrating Retrieval-Augmented Generation to reference historical bug fixes and documentation.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Multi-Language Support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Expanding sentiment analysis and summarization to support global customer bases.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Automated Labeling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Using AI to suggest Jira labels and components based on issue content.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Dashboard Integration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Visualizing sentiment trends and AI performance using Anypoint Visualizer and Jira Dashboards.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"/>
          <p:cNvSpPr txBox="1"/>
          <p:nvPr/>
        </p:nvSpPr>
        <p:spPr>
          <a:xfrm>
            <a:off x="513100" y="913575"/>
            <a:ext cx="1029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US" sz="3600">
                <a:latin typeface="Roboto"/>
                <a:ea typeface="Roboto"/>
                <a:cs typeface="Roboto"/>
                <a:sym typeface="Roboto"/>
              </a:rPr>
              <a:t>Empowering Teams with AI</a:t>
            </a:r>
            <a:endParaRPr b="1" sz="3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6019525" y="2102425"/>
            <a:ext cx="5081100" cy="3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The Force Multiplier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Jira AI Bug Agent bridges the gap between raw data and actionable insights, enabling teams to focus on what matters most: building great software.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Key Takeaway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By combining MuleSoft's integration power with AI's analytical capabilities, we transform bug tracking from a manual chore into an intelligent, automated workflow.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9" name="Google Shape;3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375" y="2102425"/>
            <a:ext cx="5354024" cy="416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900">
        <p14:prism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 txBox="1"/>
          <p:nvPr>
            <p:ph idx="1" type="body"/>
          </p:nvPr>
        </p:nvSpPr>
        <p:spPr>
          <a:xfrm>
            <a:off x="583507" y="542412"/>
            <a:ext cx="11076600" cy="86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rPr>
              <a:t>Proven Performance &amp; Quality</a:t>
            </a:r>
            <a:endParaRPr sz="36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330" name="Google Shape;3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725" y="2833187"/>
            <a:ext cx="3943350" cy="22193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31" name="Google Shape;33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8975" y="2833187"/>
            <a:ext cx="3943350" cy="22193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32" name="Google Shape;332;p22"/>
          <p:cNvSpPr txBox="1"/>
          <p:nvPr/>
        </p:nvSpPr>
        <p:spPr>
          <a:xfrm>
            <a:off x="291750" y="1501750"/>
            <a:ext cx="11660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Continuous integration ensures that changes to AI prompts or MuleSoft flows do not break existing functionality, maintaining enterprise-grade reliability.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racle-2019-standard">
  <a:themeElements>
    <a:clrScheme name="Miracle_Colors">
      <a:dk1>
        <a:srgbClr val="232527"/>
      </a:dk1>
      <a:lt1>
        <a:srgbClr val="FFFFFF"/>
      </a:lt1>
      <a:dk2>
        <a:srgbClr val="00AAE7"/>
      </a:dk2>
      <a:lt2>
        <a:srgbClr val="FFFFFF"/>
      </a:lt2>
      <a:accent1>
        <a:srgbClr val="2468A0"/>
      </a:accent1>
      <a:accent2>
        <a:srgbClr val="00AAE7"/>
      </a:accent2>
      <a:accent3>
        <a:srgbClr val="0D416B"/>
      </a:accent3>
      <a:accent4>
        <a:srgbClr val="8C8C8C"/>
      </a:accent4>
      <a:accent5>
        <a:srgbClr val="232527"/>
      </a:accent5>
      <a:accent6>
        <a:srgbClr val="B7B3B3"/>
      </a:accent6>
      <a:hlink>
        <a:srgbClr val="2468A0"/>
      </a:hlink>
      <a:folHlink>
        <a:srgbClr val="2325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