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5143500" cx="9144000"/>
  <p:notesSz cx="5143500" cy="9144000"/>
  <p:embeddedFontLst>
    <p:embeddedFont>
      <p:font typeface="Robo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h1VjZ9XZIRM4KfrdDY38kCYoix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11" Type="http://schemas.openxmlformats.org/officeDocument/2006/relationships/slide" Target="slides/slide7.xml"/><Relationship Id="rId22" Type="http://customschemas.google.com/relationships/presentationmetadata" Target="metadata"/><Relationship Id="rId10" Type="http://schemas.openxmlformats.org/officeDocument/2006/relationships/slide" Target="slides/slide6.xml"/><Relationship Id="rId21" Type="http://schemas.openxmlformats.org/officeDocument/2006/relationships/font" Target="fonts/Roboto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Roboto-bold.fntdata"/><Relationship Id="rId6" Type="http://schemas.openxmlformats.org/officeDocument/2006/relationships/slide" Target="slides/slide2.xml"/><Relationship Id="rId18" Type="http://schemas.openxmlformats.org/officeDocument/2006/relationships/font" Target="fonts/Roboto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" name="Google Shape;38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" name="Google Shape;40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bbd96013e6_0_5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bbd96013e6_0_5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g3bbd96013e6_0_56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bbd96013e6_0_6"/>
          <p:cNvSpPr txBox="1"/>
          <p:nvPr>
            <p:ph idx="1" type="body"/>
          </p:nvPr>
        </p:nvSpPr>
        <p:spPr>
          <a:xfrm>
            <a:off x="414135" y="989347"/>
            <a:ext cx="60075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17" name="Google Shape;17;g3bbd96013e6_0_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67018" y="4225985"/>
            <a:ext cx="2389383" cy="65945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g3bbd96013e6_0_6"/>
          <p:cNvSpPr/>
          <p:nvPr/>
        </p:nvSpPr>
        <p:spPr>
          <a:xfrm>
            <a:off x="6854000" y="1435004"/>
            <a:ext cx="411600" cy="411600"/>
          </a:xfrm>
          <a:prstGeom prst="ellipse">
            <a:avLst/>
          </a:prstGeom>
          <a:solidFill>
            <a:srgbClr val="23252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g3bbd96013e6_0_6"/>
          <p:cNvSpPr/>
          <p:nvPr/>
        </p:nvSpPr>
        <p:spPr>
          <a:xfrm>
            <a:off x="6806378" y="2645303"/>
            <a:ext cx="1083900" cy="1083900"/>
          </a:xfrm>
          <a:prstGeom prst="pie">
            <a:avLst>
              <a:gd fmla="val 0" name="adj1"/>
              <a:gd fmla="val 16200000" name="adj2"/>
            </a:avLst>
          </a:prstGeom>
          <a:solidFill>
            <a:schemeClr val="accent5">
              <a:alpha val="1490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g3bbd96013e6_0_6"/>
          <p:cNvSpPr/>
          <p:nvPr/>
        </p:nvSpPr>
        <p:spPr>
          <a:xfrm>
            <a:off x="6813460" y="798444"/>
            <a:ext cx="1083564" cy="541782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rgbClr val="9C2D3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g3bbd96013e6_0_6"/>
          <p:cNvSpPr/>
          <p:nvPr/>
        </p:nvSpPr>
        <p:spPr>
          <a:xfrm rot="10800000">
            <a:off x="6804280" y="3856886"/>
            <a:ext cx="510921" cy="514350"/>
          </a:xfrm>
          <a:custGeom>
            <a:rect b="b" l="l" r="r" t="t"/>
            <a:pathLst>
              <a:path extrusionOk="0" h="685800" w="681228">
                <a:moveTo>
                  <a:pt x="0" y="0"/>
                </a:moveTo>
                <a:lnTo>
                  <a:pt x="338328" y="0"/>
                </a:lnTo>
                <a:cubicBezTo>
                  <a:pt x="527706" y="0"/>
                  <a:pt x="681228" y="153522"/>
                  <a:pt x="681228" y="342900"/>
                </a:cubicBezTo>
                <a:cubicBezTo>
                  <a:pt x="681228" y="532279"/>
                  <a:pt x="527706" y="685800"/>
                  <a:pt x="338328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rgbClr val="E3414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g3bbd96013e6_0_6"/>
          <p:cNvSpPr/>
          <p:nvPr/>
        </p:nvSpPr>
        <p:spPr>
          <a:xfrm>
            <a:off x="7386259" y="193120"/>
            <a:ext cx="514500" cy="514500"/>
          </a:xfrm>
          <a:prstGeom prst="roundRect">
            <a:avLst>
              <a:gd fmla="val 16667" name="adj"/>
            </a:avLst>
          </a:prstGeom>
          <a:solidFill>
            <a:srgbClr val="E9AEB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g3bbd96013e6_0_6"/>
          <p:cNvSpPr/>
          <p:nvPr/>
        </p:nvSpPr>
        <p:spPr>
          <a:xfrm rot="5400000">
            <a:off x="7101652" y="1719611"/>
            <a:ext cx="1083564" cy="51435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lnTo>
                  <a:pt x="0" y="0"/>
                </a:lnTo>
                <a:lnTo>
                  <a:pt x="685800" y="0"/>
                </a:lnTo>
                <a:lnTo>
                  <a:pt x="1026399" y="0"/>
                </a:lnTo>
                <a:cubicBezTo>
                  <a:pt x="1217048" y="0"/>
                  <a:pt x="1371600" y="153522"/>
                  <a:pt x="1371600" y="342900"/>
                </a:cubicBezTo>
                <a:cubicBezTo>
                  <a:pt x="1371600" y="532279"/>
                  <a:pt x="1217048" y="685800"/>
                  <a:pt x="1026399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rgbClr val="E3414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g3bbd96013e6_0_6"/>
          <p:cNvSpPr/>
          <p:nvPr/>
        </p:nvSpPr>
        <p:spPr>
          <a:xfrm>
            <a:off x="6802565" y="2003207"/>
            <a:ext cx="514350" cy="514350"/>
          </a:xfrm>
          <a:custGeom>
            <a:rect b="b" l="l" r="r" t="t"/>
            <a:pathLst>
              <a:path extrusionOk="0" h="685800" w="685800">
                <a:moveTo>
                  <a:pt x="0" y="0"/>
                </a:moveTo>
                <a:cubicBezTo>
                  <a:pt x="378757" y="0"/>
                  <a:pt x="685800" y="307043"/>
                  <a:pt x="685800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rgbClr val="E9AEB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g3bbd96013e6_0_6"/>
          <p:cNvSpPr/>
          <p:nvPr/>
        </p:nvSpPr>
        <p:spPr>
          <a:xfrm rot="5400000">
            <a:off x="7792601" y="1460233"/>
            <a:ext cx="1028700" cy="51435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rgbClr val="E9AEB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g3bbd96013e6_0_6"/>
          <p:cNvSpPr/>
          <p:nvPr/>
        </p:nvSpPr>
        <p:spPr>
          <a:xfrm rot="-5400000">
            <a:off x="8376905" y="728719"/>
            <a:ext cx="1028700" cy="51435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g3bbd96013e6_0_6"/>
          <p:cNvSpPr/>
          <p:nvPr/>
        </p:nvSpPr>
        <p:spPr>
          <a:xfrm rot="5400000">
            <a:off x="7129084" y="4114062"/>
            <a:ext cx="1028700" cy="51435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g3bbd96013e6_0_6"/>
          <p:cNvSpPr/>
          <p:nvPr/>
        </p:nvSpPr>
        <p:spPr>
          <a:xfrm>
            <a:off x="6854000" y="4474107"/>
            <a:ext cx="411600" cy="411600"/>
          </a:xfrm>
          <a:prstGeom prst="ellipse">
            <a:avLst/>
          </a:prstGeom>
          <a:solidFill>
            <a:srgbClr val="9C2D3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g3bbd96013e6_0_6"/>
          <p:cNvSpPr/>
          <p:nvPr/>
        </p:nvSpPr>
        <p:spPr>
          <a:xfrm rot="-5400000">
            <a:off x="8631191" y="2349815"/>
            <a:ext cx="514350" cy="514350"/>
          </a:xfrm>
          <a:custGeom>
            <a:rect b="b" l="l" r="r" t="t"/>
            <a:pathLst>
              <a:path extrusionOk="0" h="685800" w="685800">
                <a:moveTo>
                  <a:pt x="0" y="0"/>
                </a:moveTo>
                <a:cubicBezTo>
                  <a:pt x="378757" y="0"/>
                  <a:pt x="685800" y="307043"/>
                  <a:pt x="685800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rgbClr val="9C2D3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g3bbd96013e6_0_6"/>
          <p:cNvSpPr/>
          <p:nvPr/>
        </p:nvSpPr>
        <p:spPr>
          <a:xfrm>
            <a:off x="8685515" y="4225985"/>
            <a:ext cx="411600" cy="411600"/>
          </a:xfrm>
          <a:prstGeom prst="ellipse">
            <a:avLst/>
          </a:prstGeom>
          <a:solidFill>
            <a:srgbClr val="DD3D4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g3bbd96013e6_0_6"/>
          <p:cNvSpPr/>
          <p:nvPr/>
        </p:nvSpPr>
        <p:spPr>
          <a:xfrm>
            <a:off x="8051491" y="470552"/>
            <a:ext cx="510921" cy="514350"/>
          </a:xfrm>
          <a:custGeom>
            <a:rect b="b" l="l" r="r" t="t"/>
            <a:pathLst>
              <a:path extrusionOk="0" h="685800" w="681228">
                <a:moveTo>
                  <a:pt x="0" y="0"/>
                </a:moveTo>
                <a:lnTo>
                  <a:pt x="338328" y="0"/>
                </a:lnTo>
                <a:cubicBezTo>
                  <a:pt x="527706" y="0"/>
                  <a:pt x="681228" y="153522"/>
                  <a:pt x="681228" y="342900"/>
                </a:cubicBezTo>
                <a:cubicBezTo>
                  <a:pt x="681228" y="532279"/>
                  <a:pt x="527706" y="685800"/>
                  <a:pt x="338328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rgbClr val="E3414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g3bbd96013e6_0_6"/>
          <p:cNvSpPr/>
          <p:nvPr/>
        </p:nvSpPr>
        <p:spPr>
          <a:xfrm rot="10800000">
            <a:off x="8048117" y="3569754"/>
            <a:ext cx="1097280" cy="54864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rgbClr val="E9AEB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g3bbd96013e6_0_6"/>
          <p:cNvSpPr/>
          <p:nvPr/>
        </p:nvSpPr>
        <p:spPr>
          <a:xfrm rot="-5400000">
            <a:off x="8051491" y="4174550"/>
            <a:ext cx="510921" cy="514350"/>
          </a:xfrm>
          <a:custGeom>
            <a:rect b="b" l="l" r="r" t="t"/>
            <a:pathLst>
              <a:path extrusionOk="0" h="685800" w="681228">
                <a:moveTo>
                  <a:pt x="0" y="0"/>
                </a:moveTo>
                <a:lnTo>
                  <a:pt x="338328" y="0"/>
                </a:lnTo>
                <a:cubicBezTo>
                  <a:pt x="527706" y="0"/>
                  <a:pt x="681228" y="153522"/>
                  <a:pt x="681228" y="342900"/>
                </a:cubicBezTo>
                <a:cubicBezTo>
                  <a:pt x="681228" y="532279"/>
                  <a:pt x="527706" y="685800"/>
                  <a:pt x="338328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rgbClr val="9C2D3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g3bbd96013e6_0_6"/>
          <p:cNvSpPr/>
          <p:nvPr/>
        </p:nvSpPr>
        <p:spPr>
          <a:xfrm rot="-2700000">
            <a:off x="8708761" y="3007110"/>
            <a:ext cx="364867" cy="364867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g3bbd96013e6_0_6"/>
          <p:cNvSpPr/>
          <p:nvPr/>
        </p:nvSpPr>
        <p:spPr>
          <a:xfrm>
            <a:off x="8685515" y="1746335"/>
            <a:ext cx="411600" cy="411600"/>
          </a:xfrm>
          <a:prstGeom prst="ellipse">
            <a:avLst/>
          </a:prstGeom>
          <a:solidFill>
            <a:srgbClr val="DD3D4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g3bbd96013e6_0_6"/>
          <p:cNvSpPr/>
          <p:nvPr/>
        </p:nvSpPr>
        <p:spPr>
          <a:xfrm rot="-5400000">
            <a:off x="7765170" y="2644430"/>
            <a:ext cx="1083564" cy="51435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lnTo>
                  <a:pt x="0" y="0"/>
                </a:lnTo>
                <a:lnTo>
                  <a:pt x="685800" y="0"/>
                </a:lnTo>
                <a:lnTo>
                  <a:pt x="1026399" y="0"/>
                </a:lnTo>
                <a:cubicBezTo>
                  <a:pt x="1217048" y="0"/>
                  <a:pt x="1371600" y="153522"/>
                  <a:pt x="1371600" y="342900"/>
                </a:cubicBezTo>
                <a:cubicBezTo>
                  <a:pt x="1371600" y="532279"/>
                  <a:pt x="1217048" y="685800"/>
                  <a:pt x="1026399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rgbClr val="E3414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g3bbd96013e6_0_6"/>
          <p:cNvSpPr/>
          <p:nvPr/>
        </p:nvSpPr>
        <p:spPr>
          <a:xfrm rot="5400000">
            <a:off x="6707733" y="94833"/>
            <a:ext cx="704015" cy="514349"/>
          </a:xfrm>
          <a:custGeom>
            <a:rect b="b" l="l" r="r" t="t"/>
            <a:pathLst>
              <a:path extrusionOk="0" h="685799" w="938686">
                <a:moveTo>
                  <a:pt x="0" y="685799"/>
                </a:moveTo>
                <a:lnTo>
                  <a:pt x="0" y="49530"/>
                </a:lnTo>
                <a:lnTo>
                  <a:pt x="114673" y="13933"/>
                </a:lnTo>
                <a:cubicBezTo>
                  <a:pt x="159317" y="4798"/>
                  <a:pt x="205541" y="0"/>
                  <a:pt x="252886" y="0"/>
                </a:cubicBezTo>
                <a:cubicBezTo>
                  <a:pt x="584298" y="0"/>
                  <a:pt x="860805" y="235080"/>
                  <a:pt x="924753" y="547587"/>
                </a:cubicBezTo>
                <a:lnTo>
                  <a:pt x="938686" y="685799"/>
                </a:lnTo>
                <a:close/>
              </a:path>
            </a:pathLst>
          </a:custGeom>
          <a:solidFill>
            <a:srgbClr val="E3414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g3bbd96013e6_0_6"/>
          <p:cNvSpPr/>
          <p:nvPr/>
        </p:nvSpPr>
        <p:spPr>
          <a:xfrm rot="-2700000">
            <a:off x="7571910" y="-70440"/>
            <a:ext cx="142922" cy="142922"/>
          </a:xfrm>
          <a:custGeom>
            <a:rect b="b" l="l" r="r" t="t"/>
            <a:pathLst>
              <a:path extrusionOk="0" h="190681" w="190682">
                <a:moveTo>
                  <a:pt x="0" y="0"/>
                </a:moveTo>
                <a:lnTo>
                  <a:pt x="190682" y="190681"/>
                </a:lnTo>
                <a:lnTo>
                  <a:pt x="0" y="19068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g3bbd96013e6_0_6"/>
          <p:cNvSpPr/>
          <p:nvPr/>
        </p:nvSpPr>
        <p:spPr>
          <a:xfrm>
            <a:off x="6802566" y="4989196"/>
            <a:ext cx="367435" cy="155176"/>
          </a:xfrm>
          <a:custGeom>
            <a:rect b="b" l="l" r="r" t="t"/>
            <a:pathLst>
              <a:path extrusionOk="0" h="206901" w="489913">
                <a:moveTo>
                  <a:pt x="0" y="0"/>
                </a:moveTo>
                <a:cubicBezTo>
                  <a:pt x="189379" y="0"/>
                  <a:pt x="360828" y="76761"/>
                  <a:pt x="484934" y="200866"/>
                </a:cubicBezTo>
                <a:lnTo>
                  <a:pt x="489913" y="206901"/>
                </a:lnTo>
                <a:lnTo>
                  <a:pt x="0" y="206901"/>
                </a:lnTo>
                <a:close/>
              </a:path>
            </a:pathLst>
          </a:custGeom>
          <a:solidFill>
            <a:srgbClr val="E3414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g3bbd96013e6_0_6"/>
          <p:cNvSpPr/>
          <p:nvPr/>
        </p:nvSpPr>
        <p:spPr>
          <a:xfrm rot="5400000">
            <a:off x="7565846" y="4809608"/>
            <a:ext cx="155176" cy="514350"/>
          </a:xfrm>
          <a:custGeom>
            <a:rect b="b" l="l" r="r" t="t"/>
            <a:pathLst>
              <a:path extrusionOk="0" h="685800" w="206901">
                <a:moveTo>
                  <a:pt x="0" y="685800"/>
                </a:moveTo>
                <a:lnTo>
                  <a:pt x="0" y="0"/>
                </a:lnTo>
                <a:cubicBezTo>
                  <a:pt x="47345" y="0"/>
                  <a:pt x="93569" y="4798"/>
                  <a:pt x="138213" y="13933"/>
                </a:cubicBezTo>
                <a:lnTo>
                  <a:pt x="206901" y="35255"/>
                </a:lnTo>
                <a:lnTo>
                  <a:pt x="206901" y="685800"/>
                </a:lnTo>
                <a:close/>
              </a:path>
            </a:pathLst>
          </a:custGeom>
          <a:solidFill>
            <a:srgbClr val="E9AEB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g3bbd96013e6_0_6"/>
          <p:cNvSpPr/>
          <p:nvPr/>
        </p:nvSpPr>
        <p:spPr>
          <a:xfrm rot="10800000">
            <a:off x="8049776" y="4885587"/>
            <a:ext cx="514350" cy="258784"/>
          </a:xfrm>
          <a:custGeom>
            <a:rect b="b" l="l" r="r" t="t"/>
            <a:pathLst>
              <a:path extrusionOk="0" h="345045" w="685800">
                <a:moveTo>
                  <a:pt x="685800" y="345045"/>
                </a:moveTo>
                <a:lnTo>
                  <a:pt x="0" y="345045"/>
                </a:lnTo>
                <a:lnTo>
                  <a:pt x="0" y="0"/>
                </a:lnTo>
                <a:lnTo>
                  <a:pt x="589515" y="0"/>
                </a:lnTo>
                <a:lnTo>
                  <a:pt x="631906" y="78101"/>
                </a:lnTo>
                <a:cubicBezTo>
                  <a:pt x="666610" y="160149"/>
                  <a:pt x="685800" y="250356"/>
                  <a:pt x="685800" y="345045"/>
                </a:cubicBezTo>
                <a:close/>
              </a:path>
            </a:pathLst>
          </a:custGeom>
          <a:solidFill>
            <a:srgbClr val="E3414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g3bbd96013e6_0_6"/>
          <p:cNvSpPr/>
          <p:nvPr/>
        </p:nvSpPr>
        <p:spPr>
          <a:xfrm>
            <a:off x="6854000" y="1435004"/>
            <a:ext cx="411600" cy="411600"/>
          </a:xfrm>
          <a:prstGeom prst="ellipse">
            <a:avLst/>
          </a:prstGeom>
          <a:solidFill>
            <a:srgbClr val="23252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g3bbd96013e6_0_6"/>
          <p:cNvSpPr/>
          <p:nvPr/>
        </p:nvSpPr>
        <p:spPr>
          <a:xfrm>
            <a:off x="6813460" y="798444"/>
            <a:ext cx="1083564" cy="541782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g3bbd96013e6_0_6"/>
          <p:cNvSpPr/>
          <p:nvPr/>
        </p:nvSpPr>
        <p:spPr>
          <a:xfrm rot="10800000">
            <a:off x="6804280" y="3856886"/>
            <a:ext cx="510921" cy="514350"/>
          </a:xfrm>
          <a:custGeom>
            <a:rect b="b" l="l" r="r" t="t"/>
            <a:pathLst>
              <a:path extrusionOk="0" h="685800" w="681228">
                <a:moveTo>
                  <a:pt x="0" y="0"/>
                </a:moveTo>
                <a:lnTo>
                  <a:pt x="338328" y="0"/>
                </a:lnTo>
                <a:cubicBezTo>
                  <a:pt x="527706" y="0"/>
                  <a:pt x="681228" y="153522"/>
                  <a:pt x="681228" y="342900"/>
                </a:cubicBezTo>
                <a:cubicBezTo>
                  <a:pt x="681228" y="532279"/>
                  <a:pt x="527706" y="685800"/>
                  <a:pt x="338328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g3bbd96013e6_0_6"/>
          <p:cNvSpPr/>
          <p:nvPr/>
        </p:nvSpPr>
        <p:spPr>
          <a:xfrm>
            <a:off x="7386259" y="193120"/>
            <a:ext cx="514500" cy="514500"/>
          </a:xfrm>
          <a:prstGeom prst="roundRect">
            <a:avLst>
              <a:gd fmla="val 16667" name="adj"/>
            </a:avLst>
          </a:prstGeom>
          <a:solidFill>
            <a:srgbClr val="97C3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g3bbd96013e6_0_6"/>
          <p:cNvSpPr/>
          <p:nvPr/>
        </p:nvSpPr>
        <p:spPr>
          <a:xfrm rot="5400000">
            <a:off x="7101652" y="1719611"/>
            <a:ext cx="1083564" cy="51435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lnTo>
                  <a:pt x="0" y="0"/>
                </a:lnTo>
                <a:lnTo>
                  <a:pt x="685800" y="0"/>
                </a:lnTo>
                <a:lnTo>
                  <a:pt x="1026399" y="0"/>
                </a:lnTo>
                <a:cubicBezTo>
                  <a:pt x="1217048" y="0"/>
                  <a:pt x="1371600" y="153522"/>
                  <a:pt x="1371600" y="342900"/>
                </a:cubicBezTo>
                <a:cubicBezTo>
                  <a:pt x="1371600" y="532279"/>
                  <a:pt x="1217048" y="685800"/>
                  <a:pt x="1026399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g3bbd96013e6_0_6"/>
          <p:cNvSpPr/>
          <p:nvPr/>
        </p:nvSpPr>
        <p:spPr>
          <a:xfrm>
            <a:off x="6802565" y="2003207"/>
            <a:ext cx="514350" cy="514350"/>
          </a:xfrm>
          <a:custGeom>
            <a:rect b="b" l="l" r="r" t="t"/>
            <a:pathLst>
              <a:path extrusionOk="0" h="685800" w="685800">
                <a:moveTo>
                  <a:pt x="0" y="0"/>
                </a:moveTo>
                <a:cubicBezTo>
                  <a:pt x="378757" y="0"/>
                  <a:pt x="685800" y="307043"/>
                  <a:pt x="685800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rgbClr val="97C3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g3bbd96013e6_0_6"/>
          <p:cNvSpPr/>
          <p:nvPr/>
        </p:nvSpPr>
        <p:spPr>
          <a:xfrm rot="5400000">
            <a:off x="7792601" y="1460233"/>
            <a:ext cx="1028700" cy="51435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rgbClr val="97C3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g3bbd96013e6_0_6"/>
          <p:cNvSpPr/>
          <p:nvPr/>
        </p:nvSpPr>
        <p:spPr>
          <a:xfrm rot="-5400000">
            <a:off x="8376905" y="728719"/>
            <a:ext cx="1028700" cy="51435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g3bbd96013e6_0_6"/>
          <p:cNvSpPr/>
          <p:nvPr/>
        </p:nvSpPr>
        <p:spPr>
          <a:xfrm rot="5400000">
            <a:off x="7129084" y="4114062"/>
            <a:ext cx="1028700" cy="51435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g3bbd96013e6_0_6"/>
          <p:cNvSpPr/>
          <p:nvPr/>
        </p:nvSpPr>
        <p:spPr>
          <a:xfrm>
            <a:off x="6854000" y="4474107"/>
            <a:ext cx="411600" cy="411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g3bbd96013e6_0_6"/>
          <p:cNvSpPr/>
          <p:nvPr/>
        </p:nvSpPr>
        <p:spPr>
          <a:xfrm rot="-5400000">
            <a:off x="8631191" y="2349815"/>
            <a:ext cx="514350" cy="514350"/>
          </a:xfrm>
          <a:custGeom>
            <a:rect b="b" l="l" r="r" t="t"/>
            <a:pathLst>
              <a:path extrusionOk="0" h="685800" w="685800">
                <a:moveTo>
                  <a:pt x="0" y="0"/>
                </a:moveTo>
                <a:cubicBezTo>
                  <a:pt x="378757" y="0"/>
                  <a:pt x="685800" y="307043"/>
                  <a:pt x="685800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g3bbd96013e6_0_6"/>
          <p:cNvSpPr/>
          <p:nvPr/>
        </p:nvSpPr>
        <p:spPr>
          <a:xfrm>
            <a:off x="8685515" y="4225985"/>
            <a:ext cx="411600" cy="411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g3bbd96013e6_0_6"/>
          <p:cNvSpPr/>
          <p:nvPr/>
        </p:nvSpPr>
        <p:spPr>
          <a:xfrm>
            <a:off x="8051491" y="470552"/>
            <a:ext cx="510921" cy="514350"/>
          </a:xfrm>
          <a:custGeom>
            <a:rect b="b" l="l" r="r" t="t"/>
            <a:pathLst>
              <a:path extrusionOk="0" h="685800" w="681228">
                <a:moveTo>
                  <a:pt x="0" y="0"/>
                </a:moveTo>
                <a:lnTo>
                  <a:pt x="338328" y="0"/>
                </a:lnTo>
                <a:cubicBezTo>
                  <a:pt x="527706" y="0"/>
                  <a:pt x="681228" y="153522"/>
                  <a:pt x="681228" y="342900"/>
                </a:cubicBezTo>
                <a:cubicBezTo>
                  <a:pt x="681228" y="532279"/>
                  <a:pt x="527706" y="685800"/>
                  <a:pt x="338328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g3bbd96013e6_0_6"/>
          <p:cNvSpPr/>
          <p:nvPr/>
        </p:nvSpPr>
        <p:spPr>
          <a:xfrm rot="10800000">
            <a:off x="8048117" y="3569754"/>
            <a:ext cx="1097280" cy="54864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rgbClr val="97C3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g3bbd96013e6_0_6"/>
          <p:cNvSpPr/>
          <p:nvPr/>
        </p:nvSpPr>
        <p:spPr>
          <a:xfrm rot="-5400000">
            <a:off x="8051491" y="4174550"/>
            <a:ext cx="510921" cy="514350"/>
          </a:xfrm>
          <a:custGeom>
            <a:rect b="b" l="l" r="r" t="t"/>
            <a:pathLst>
              <a:path extrusionOk="0" h="685800" w="681228">
                <a:moveTo>
                  <a:pt x="0" y="0"/>
                </a:moveTo>
                <a:lnTo>
                  <a:pt x="338328" y="0"/>
                </a:lnTo>
                <a:cubicBezTo>
                  <a:pt x="527706" y="0"/>
                  <a:pt x="681228" y="153522"/>
                  <a:pt x="681228" y="342900"/>
                </a:cubicBezTo>
                <a:cubicBezTo>
                  <a:pt x="681228" y="532279"/>
                  <a:pt x="527706" y="685800"/>
                  <a:pt x="338328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g3bbd96013e6_0_6"/>
          <p:cNvSpPr/>
          <p:nvPr/>
        </p:nvSpPr>
        <p:spPr>
          <a:xfrm rot="-2700000">
            <a:off x="8708761" y="3007110"/>
            <a:ext cx="364867" cy="364867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g3bbd96013e6_0_6"/>
          <p:cNvSpPr/>
          <p:nvPr/>
        </p:nvSpPr>
        <p:spPr>
          <a:xfrm>
            <a:off x="8685515" y="1746335"/>
            <a:ext cx="411600" cy="411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g3bbd96013e6_0_6"/>
          <p:cNvSpPr/>
          <p:nvPr/>
        </p:nvSpPr>
        <p:spPr>
          <a:xfrm rot="-5400000">
            <a:off x="7765170" y="2644430"/>
            <a:ext cx="1083564" cy="51435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lnTo>
                  <a:pt x="0" y="0"/>
                </a:lnTo>
                <a:lnTo>
                  <a:pt x="685800" y="0"/>
                </a:lnTo>
                <a:lnTo>
                  <a:pt x="1026399" y="0"/>
                </a:lnTo>
                <a:cubicBezTo>
                  <a:pt x="1217048" y="0"/>
                  <a:pt x="1371600" y="153522"/>
                  <a:pt x="1371600" y="342900"/>
                </a:cubicBezTo>
                <a:cubicBezTo>
                  <a:pt x="1371600" y="532279"/>
                  <a:pt x="1217048" y="685800"/>
                  <a:pt x="1026399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g3bbd96013e6_0_6"/>
          <p:cNvSpPr/>
          <p:nvPr/>
        </p:nvSpPr>
        <p:spPr>
          <a:xfrm rot="5400000">
            <a:off x="6707733" y="94833"/>
            <a:ext cx="704015" cy="514349"/>
          </a:xfrm>
          <a:custGeom>
            <a:rect b="b" l="l" r="r" t="t"/>
            <a:pathLst>
              <a:path extrusionOk="0" h="685799" w="938686">
                <a:moveTo>
                  <a:pt x="0" y="685799"/>
                </a:moveTo>
                <a:lnTo>
                  <a:pt x="0" y="49530"/>
                </a:lnTo>
                <a:lnTo>
                  <a:pt x="114673" y="13933"/>
                </a:lnTo>
                <a:cubicBezTo>
                  <a:pt x="159317" y="4798"/>
                  <a:pt x="205541" y="0"/>
                  <a:pt x="252886" y="0"/>
                </a:cubicBezTo>
                <a:cubicBezTo>
                  <a:pt x="584298" y="0"/>
                  <a:pt x="860805" y="235080"/>
                  <a:pt x="924753" y="547587"/>
                </a:cubicBezTo>
                <a:lnTo>
                  <a:pt x="938686" y="685799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g3bbd96013e6_0_6"/>
          <p:cNvSpPr/>
          <p:nvPr/>
        </p:nvSpPr>
        <p:spPr>
          <a:xfrm rot="-2700000">
            <a:off x="7571910" y="-70440"/>
            <a:ext cx="142922" cy="142922"/>
          </a:xfrm>
          <a:custGeom>
            <a:rect b="b" l="l" r="r" t="t"/>
            <a:pathLst>
              <a:path extrusionOk="0" h="190681" w="190682">
                <a:moveTo>
                  <a:pt x="0" y="0"/>
                </a:moveTo>
                <a:lnTo>
                  <a:pt x="190682" y="190681"/>
                </a:lnTo>
                <a:lnTo>
                  <a:pt x="0" y="19068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g3bbd96013e6_0_6"/>
          <p:cNvSpPr/>
          <p:nvPr/>
        </p:nvSpPr>
        <p:spPr>
          <a:xfrm rot="-2700000">
            <a:off x="8347966" y="-255158"/>
            <a:ext cx="510317" cy="510317"/>
          </a:xfrm>
          <a:custGeom>
            <a:rect b="b" l="l" r="r" t="t"/>
            <a:pathLst>
              <a:path extrusionOk="0" h="680846" w="680847">
                <a:moveTo>
                  <a:pt x="1" y="0"/>
                </a:moveTo>
                <a:lnTo>
                  <a:pt x="680847" y="680846"/>
                </a:lnTo>
                <a:lnTo>
                  <a:pt x="0" y="68084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g3bbd96013e6_0_6"/>
          <p:cNvSpPr/>
          <p:nvPr/>
        </p:nvSpPr>
        <p:spPr>
          <a:xfrm>
            <a:off x="6802566" y="4989196"/>
            <a:ext cx="367435" cy="155176"/>
          </a:xfrm>
          <a:custGeom>
            <a:rect b="b" l="l" r="r" t="t"/>
            <a:pathLst>
              <a:path extrusionOk="0" h="206901" w="489913">
                <a:moveTo>
                  <a:pt x="0" y="0"/>
                </a:moveTo>
                <a:cubicBezTo>
                  <a:pt x="189379" y="0"/>
                  <a:pt x="360828" y="76761"/>
                  <a:pt x="484934" y="200866"/>
                </a:cubicBezTo>
                <a:lnTo>
                  <a:pt x="489913" y="206901"/>
                </a:lnTo>
                <a:lnTo>
                  <a:pt x="0" y="20690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g3bbd96013e6_0_6"/>
          <p:cNvSpPr/>
          <p:nvPr/>
        </p:nvSpPr>
        <p:spPr>
          <a:xfrm rot="5400000">
            <a:off x="7565846" y="4809608"/>
            <a:ext cx="155176" cy="514350"/>
          </a:xfrm>
          <a:custGeom>
            <a:rect b="b" l="l" r="r" t="t"/>
            <a:pathLst>
              <a:path extrusionOk="0" h="685800" w="206901">
                <a:moveTo>
                  <a:pt x="0" y="685800"/>
                </a:moveTo>
                <a:lnTo>
                  <a:pt x="0" y="0"/>
                </a:lnTo>
                <a:cubicBezTo>
                  <a:pt x="47345" y="0"/>
                  <a:pt x="93569" y="4798"/>
                  <a:pt x="138213" y="13933"/>
                </a:cubicBezTo>
                <a:lnTo>
                  <a:pt x="206901" y="35255"/>
                </a:lnTo>
                <a:lnTo>
                  <a:pt x="206901" y="685800"/>
                </a:lnTo>
                <a:close/>
              </a:path>
            </a:pathLst>
          </a:custGeom>
          <a:solidFill>
            <a:srgbClr val="97C3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g3bbd96013e6_0_6"/>
          <p:cNvSpPr/>
          <p:nvPr/>
        </p:nvSpPr>
        <p:spPr>
          <a:xfrm rot="10800000">
            <a:off x="8049776" y="4885587"/>
            <a:ext cx="514350" cy="258784"/>
          </a:xfrm>
          <a:custGeom>
            <a:rect b="b" l="l" r="r" t="t"/>
            <a:pathLst>
              <a:path extrusionOk="0" h="345045" w="685800">
                <a:moveTo>
                  <a:pt x="685800" y="345045"/>
                </a:moveTo>
                <a:lnTo>
                  <a:pt x="0" y="345045"/>
                </a:lnTo>
                <a:lnTo>
                  <a:pt x="0" y="0"/>
                </a:lnTo>
                <a:lnTo>
                  <a:pt x="589515" y="0"/>
                </a:lnTo>
                <a:lnTo>
                  <a:pt x="631906" y="78101"/>
                </a:lnTo>
                <a:cubicBezTo>
                  <a:pt x="666610" y="160149"/>
                  <a:pt x="685800" y="250356"/>
                  <a:pt x="685800" y="345045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g3bbd96013e6_0_6"/>
          <p:cNvSpPr/>
          <p:nvPr/>
        </p:nvSpPr>
        <p:spPr>
          <a:xfrm rot="-2700000">
            <a:off x="8708732" y="4961136"/>
            <a:ext cx="364727" cy="364727"/>
          </a:xfrm>
          <a:custGeom>
            <a:rect b="b" l="l" r="r" t="t"/>
            <a:pathLst>
              <a:path extrusionOk="0" h="486605" w="486605">
                <a:moveTo>
                  <a:pt x="486605" y="0"/>
                </a:moveTo>
                <a:lnTo>
                  <a:pt x="486605" y="486605"/>
                </a:lnTo>
                <a:lnTo>
                  <a:pt x="484961" y="486605"/>
                </a:lnTo>
                <a:lnTo>
                  <a:pt x="0" y="1645"/>
                </a:lnTo>
                <a:lnTo>
                  <a:pt x="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g3bbd96013e6_0_6"/>
          <p:cNvSpPr/>
          <p:nvPr/>
        </p:nvSpPr>
        <p:spPr>
          <a:xfrm>
            <a:off x="467018" y="2316157"/>
            <a:ext cx="11937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g3bbd96013e6_0_6"/>
          <p:cNvSpPr/>
          <p:nvPr/>
        </p:nvSpPr>
        <p:spPr>
          <a:xfrm>
            <a:off x="1660658" y="2316157"/>
            <a:ext cx="591900" cy="6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g3bbd96013e6_0_6"/>
          <p:cNvSpPr/>
          <p:nvPr/>
        </p:nvSpPr>
        <p:spPr>
          <a:xfrm>
            <a:off x="2252673" y="2316157"/>
            <a:ext cx="293100" cy="6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g3bbd96013e6_0_6"/>
          <p:cNvSpPr/>
          <p:nvPr/>
        </p:nvSpPr>
        <p:spPr>
          <a:xfrm>
            <a:off x="2545750" y="2316157"/>
            <a:ext cx="159600" cy="67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g3bbd96013e6_0_6"/>
          <p:cNvSpPr txBox="1"/>
          <p:nvPr>
            <p:ph idx="2" type="body"/>
          </p:nvPr>
        </p:nvSpPr>
        <p:spPr>
          <a:xfrm>
            <a:off x="414135" y="2541815"/>
            <a:ext cx="6007500" cy="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b="1" sz="1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Slide">
  <p:cSld name="Agenda Slide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oogle Shape;73;g3bbd96013e6_0_63"/>
          <p:cNvGrpSpPr/>
          <p:nvPr/>
        </p:nvGrpSpPr>
        <p:grpSpPr>
          <a:xfrm>
            <a:off x="73" y="203402"/>
            <a:ext cx="286229" cy="581388"/>
            <a:chOff x="2151529" y="1089212"/>
            <a:chExt cx="228398" cy="463923"/>
          </a:xfrm>
        </p:grpSpPr>
        <p:sp>
          <p:nvSpPr>
            <p:cNvPr id="74" name="Google Shape;74;g3bbd96013e6_0_63"/>
            <p:cNvSpPr/>
            <p:nvPr/>
          </p:nvSpPr>
          <p:spPr>
            <a:xfrm>
              <a:off x="2151529" y="1089212"/>
              <a:ext cx="228398" cy="309282"/>
            </a:xfrm>
            <a:custGeom>
              <a:rect b="b" l="l" r="r" t="t"/>
              <a:pathLst>
                <a:path extrusionOk="0" h="309282" w="289112">
                  <a:moveTo>
                    <a:pt x="0" y="0"/>
                  </a:moveTo>
                  <a:lnTo>
                    <a:pt x="0" y="309282"/>
                  </a:lnTo>
                  <a:lnTo>
                    <a:pt x="289112" y="1613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75;g3bbd96013e6_0_63"/>
            <p:cNvSpPr/>
            <p:nvPr/>
          </p:nvSpPr>
          <p:spPr>
            <a:xfrm>
              <a:off x="2151529" y="1243853"/>
              <a:ext cx="127747" cy="309282"/>
            </a:xfrm>
            <a:custGeom>
              <a:rect b="b" l="l" r="r" t="t"/>
              <a:pathLst>
                <a:path extrusionOk="0" h="309282" w="127747">
                  <a:moveTo>
                    <a:pt x="0" y="0"/>
                  </a:moveTo>
                  <a:lnTo>
                    <a:pt x="0" y="309282"/>
                  </a:lnTo>
                  <a:lnTo>
                    <a:pt x="127747" y="181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76" name="Google Shape;76;g3bbd96013e6_0_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6056" y="4648522"/>
            <a:ext cx="1266190" cy="34945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g3bbd96013e6_0_63"/>
          <p:cNvSpPr txBox="1"/>
          <p:nvPr>
            <p:ph idx="1" type="body"/>
          </p:nvPr>
        </p:nvSpPr>
        <p:spPr>
          <a:xfrm>
            <a:off x="330010" y="971766"/>
            <a:ext cx="5756400" cy="3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8" name="Google Shape;78;g3bbd96013e6_0_63"/>
          <p:cNvSpPr txBox="1"/>
          <p:nvPr/>
        </p:nvSpPr>
        <p:spPr>
          <a:xfrm>
            <a:off x="330010" y="203365"/>
            <a:ext cx="13473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sz="1100"/>
          </a:p>
        </p:txBody>
      </p:sp>
      <p:sp>
        <p:nvSpPr>
          <p:cNvPr id="79" name="Google Shape;79;g3bbd96013e6_0_63"/>
          <p:cNvSpPr txBox="1"/>
          <p:nvPr/>
        </p:nvSpPr>
        <p:spPr>
          <a:xfrm>
            <a:off x="311744" y="4800600"/>
            <a:ext cx="24672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© 2026 Miracle Software Systems, Inc. | #</a:t>
            </a:r>
            <a:fld id="{00000000-1234-1234-1234-123412341234}" type="slidenum">
              <a:rPr b="1" lang="en-US" sz="1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sz="100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g3bbd96013e6_0_63"/>
          <p:cNvSpPr/>
          <p:nvPr/>
        </p:nvSpPr>
        <p:spPr>
          <a:xfrm rot="5400000">
            <a:off x="7792601" y="1460233"/>
            <a:ext cx="1028700" cy="51435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rgbClr val="E9AEB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g3bbd96013e6_0_63"/>
          <p:cNvSpPr/>
          <p:nvPr/>
        </p:nvSpPr>
        <p:spPr>
          <a:xfrm rot="-5400000">
            <a:off x="8376905" y="728719"/>
            <a:ext cx="1028700" cy="51435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g3bbd96013e6_0_63"/>
          <p:cNvSpPr/>
          <p:nvPr/>
        </p:nvSpPr>
        <p:spPr>
          <a:xfrm rot="-5400000">
            <a:off x="8631191" y="2349815"/>
            <a:ext cx="514350" cy="514350"/>
          </a:xfrm>
          <a:custGeom>
            <a:rect b="b" l="l" r="r" t="t"/>
            <a:pathLst>
              <a:path extrusionOk="0" h="685800" w="685800">
                <a:moveTo>
                  <a:pt x="0" y="0"/>
                </a:moveTo>
                <a:cubicBezTo>
                  <a:pt x="378757" y="0"/>
                  <a:pt x="685800" y="307043"/>
                  <a:pt x="685800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rgbClr val="9C2D3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g3bbd96013e6_0_63"/>
          <p:cNvSpPr/>
          <p:nvPr/>
        </p:nvSpPr>
        <p:spPr>
          <a:xfrm>
            <a:off x="8685515" y="4225985"/>
            <a:ext cx="411600" cy="411600"/>
          </a:xfrm>
          <a:prstGeom prst="ellipse">
            <a:avLst/>
          </a:prstGeom>
          <a:solidFill>
            <a:srgbClr val="DD3D4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g3bbd96013e6_0_63"/>
          <p:cNvSpPr/>
          <p:nvPr/>
        </p:nvSpPr>
        <p:spPr>
          <a:xfrm>
            <a:off x="8051491" y="470552"/>
            <a:ext cx="510921" cy="514350"/>
          </a:xfrm>
          <a:custGeom>
            <a:rect b="b" l="l" r="r" t="t"/>
            <a:pathLst>
              <a:path extrusionOk="0" h="685800" w="681228">
                <a:moveTo>
                  <a:pt x="0" y="0"/>
                </a:moveTo>
                <a:lnTo>
                  <a:pt x="338328" y="0"/>
                </a:lnTo>
                <a:cubicBezTo>
                  <a:pt x="527706" y="0"/>
                  <a:pt x="681228" y="153522"/>
                  <a:pt x="681228" y="342900"/>
                </a:cubicBezTo>
                <a:cubicBezTo>
                  <a:pt x="681228" y="532279"/>
                  <a:pt x="527706" y="685800"/>
                  <a:pt x="338328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rgbClr val="E3414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g3bbd96013e6_0_63"/>
          <p:cNvSpPr/>
          <p:nvPr/>
        </p:nvSpPr>
        <p:spPr>
          <a:xfrm rot="10800000">
            <a:off x="8048117" y="3569754"/>
            <a:ext cx="1097280" cy="54864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rgbClr val="E9AEB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g3bbd96013e6_0_63"/>
          <p:cNvSpPr/>
          <p:nvPr/>
        </p:nvSpPr>
        <p:spPr>
          <a:xfrm rot="-5400000">
            <a:off x="8051491" y="4174550"/>
            <a:ext cx="510921" cy="514350"/>
          </a:xfrm>
          <a:custGeom>
            <a:rect b="b" l="l" r="r" t="t"/>
            <a:pathLst>
              <a:path extrusionOk="0" h="685800" w="681228">
                <a:moveTo>
                  <a:pt x="0" y="0"/>
                </a:moveTo>
                <a:lnTo>
                  <a:pt x="338328" y="0"/>
                </a:lnTo>
                <a:cubicBezTo>
                  <a:pt x="527706" y="0"/>
                  <a:pt x="681228" y="153522"/>
                  <a:pt x="681228" y="342900"/>
                </a:cubicBezTo>
                <a:cubicBezTo>
                  <a:pt x="681228" y="532279"/>
                  <a:pt x="527706" y="685800"/>
                  <a:pt x="338328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rgbClr val="9C2D3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g3bbd96013e6_0_63"/>
          <p:cNvSpPr/>
          <p:nvPr/>
        </p:nvSpPr>
        <p:spPr>
          <a:xfrm rot="-2700000">
            <a:off x="8708761" y="3007110"/>
            <a:ext cx="364867" cy="364867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g3bbd96013e6_0_63"/>
          <p:cNvSpPr/>
          <p:nvPr/>
        </p:nvSpPr>
        <p:spPr>
          <a:xfrm>
            <a:off x="8685515" y="1746335"/>
            <a:ext cx="411600" cy="411600"/>
          </a:xfrm>
          <a:prstGeom prst="ellipse">
            <a:avLst/>
          </a:prstGeom>
          <a:solidFill>
            <a:srgbClr val="DD3D4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g3bbd96013e6_0_63"/>
          <p:cNvSpPr/>
          <p:nvPr/>
        </p:nvSpPr>
        <p:spPr>
          <a:xfrm rot="-5400000">
            <a:off x="7765170" y="2644430"/>
            <a:ext cx="1083564" cy="51435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lnTo>
                  <a:pt x="0" y="0"/>
                </a:lnTo>
                <a:lnTo>
                  <a:pt x="685800" y="0"/>
                </a:lnTo>
                <a:lnTo>
                  <a:pt x="1026399" y="0"/>
                </a:lnTo>
                <a:cubicBezTo>
                  <a:pt x="1217048" y="0"/>
                  <a:pt x="1371600" y="153522"/>
                  <a:pt x="1371600" y="342900"/>
                </a:cubicBezTo>
                <a:cubicBezTo>
                  <a:pt x="1371600" y="532279"/>
                  <a:pt x="1217048" y="685800"/>
                  <a:pt x="1026399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rgbClr val="E3414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g3bbd96013e6_0_63"/>
          <p:cNvSpPr/>
          <p:nvPr/>
        </p:nvSpPr>
        <p:spPr>
          <a:xfrm rot="10800000">
            <a:off x="8049776" y="4885587"/>
            <a:ext cx="514350" cy="258784"/>
          </a:xfrm>
          <a:custGeom>
            <a:rect b="b" l="l" r="r" t="t"/>
            <a:pathLst>
              <a:path extrusionOk="0" h="345045" w="685800">
                <a:moveTo>
                  <a:pt x="685800" y="345045"/>
                </a:moveTo>
                <a:lnTo>
                  <a:pt x="0" y="345045"/>
                </a:lnTo>
                <a:lnTo>
                  <a:pt x="0" y="0"/>
                </a:lnTo>
                <a:lnTo>
                  <a:pt x="589515" y="0"/>
                </a:lnTo>
                <a:lnTo>
                  <a:pt x="631906" y="78101"/>
                </a:lnTo>
                <a:cubicBezTo>
                  <a:pt x="666610" y="160149"/>
                  <a:pt x="685800" y="250356"/>
                  <a:pt x="685800" y="345045"/>
                </a:cubicBezTo>
                <a:close/>
              </a:path>
            </a:pathLst>
          </a:custGeom>
          <a:solidFill>
            <a:srgbClr val="E3414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g3bbd96013e6_0_63"/>
          <p:cNvSpPr/>
          <p:nvPr/>
        </p:nvSpPr>
        <p:spPr>
          <a:xfrm rot="5400000">
            <a:off x="7792601" y="1460233"/>
            <a:ext cx="1028700" cy="51435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rgbClr val="97C3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g3bbd96013e6_0_63"/>
          <p:cNvSpPr/>
          <p:nvPr/>
        </p:nvSpPr>
        <p:spPr>
          <a:xfrm rot="-5400000">
            <a:off x="8376905" y="728719"/>
            <a:ext cx="1028700" cy="51435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g3bbd96013e6_0_63"/>
          <p:cNvSpPr/>
          <p:nvPr/>
        </p:nvSpPr>
        <p:spPr>
          <a:xfrm rot="-5400000">
            <a:off x="8631191" y="2349815"/>
            <a:ext cx="514350" cy="514350"/>
          </a:xfrm>
          <a:custGeom>
            <a:rect b="b" l="l" r="r" t="t"/>
            <a:pathLst>
              <a:path extrusionOk="0" h="685800" w="685800">
                <a:moveTo>
                  <a:pt x="0" y="0"/>
                </a:moveTo>
                <a:cubicBezTo>
                  <a:pt x="378757" y="0"/>
                  <a:pt x="685800" y="307043"/>
                  <a:pt x="685800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g3bbd96013e6_0_63"/>
          <p:cNvSpPr/>
          <p:nvPr/>
        </p:nvSpPr>
        <p:spPr>
          <a:xfrm>
            <a:off x="8685515" y="4225985"/>
            <a:ext cx="411600" cy="411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g3bbd96013e6_0_63"/>
          <p:cNvSpPr/>
          <p:nvPr/>
        </p:nvSpPr>
        <p:spPr>
          <a:xfrm>
            <a:off x="8051491" y="470552"/>
            <a:ext cx="510921" cy="514350"/>
          </a:xfrm>
          <a:custGeom>
            <a:rect b="b" l="l" r="r" t="t"/>
            <a:pathLst>
              <a:path extrusionOk="0" h="685800" w="681228">
                <a:moveTo>
                  <a:pt x="0" y="0"/>
                </a:moveTo>
                <a:lnTo>
                  <a:pt x="338328" y="0"/>
                </a:lnTo>
                <a:cubicBezTo>
                  <a:pt x="527706" y="0"/>
                  <a:pt x="681228" y="153522"/>
                  <a:pt x="681228" y="342900"/>
                </a:cubicBezTo>
                <a:cubicBezTo>
                  <a:pt x="681228" y="532279"/>
                  <a:pt x="527706" y="685800"/>
                  <a:pt x="338328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3bbd96013e6_0_63"/>
          <p:cNvSpPr/>
          <p:nvPr/>
        </p:nvSpPr>
        <p:spPr>
          <a:xfrm rot="10800000">
            <a:off x="8048117" y="3569754"/>
            <a:ext cx="1097280" cy="54864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rgbClr val="97C3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g3bbd96013e6_0_63"/>
          <p:cNvSpPr/>
          <p:nvPr/>
        </p:nvSpPr>
        <p:spPr>
          <a:xfrm rot="-5400000">
            <a:off x="8051491" y="4174550"/>
            <a:ext cx="510921" cy="514350"/>
          </a:xfrm>
          <a:custGeom>
            <a:rect b="b" l="l" r="r" t="t"/>
            <a:pathLst>
              <a:path extrusionOk="0" h="685800" w="681228">
                <a:moveTo>
                  <a:pt x="0" y="0"/>
                </a:moveTo>
                <a:lnTo>
                  <a:pt x="338328" y="0"/>
                </a:lnTo>
                <a:cubicBezTo>
                  <a:pt x="527706" y="0"/>
                  <a:pt x="681228" y="153522"/>
                  <a:pt x="681228" y="342900"/>
                </a:cubicBezTo>
                <a:cubicBezTo>
                  <a:pt x="681228" y="532279"/>
                  <a:pt x="527706" y="685800"/>
                  <a:pt x="338328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3bbd96013e6_0_63"/>
          <p:cNvSpPr/>
          <p:nvPr/>
        </p:nvSpPr>
        <p:spPr>
          <a:xfrm rot="-2700000">
            <a:off x="8708761" y="3007110"/>
            <a:ext cx="364867" cy="364867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g3bbd96013e6_0_63"/>
          <p:cNvSpPr/>
          <p:nvPr/>
        </p:nvSpPr>
        <p:spPr>
          <a:xfrm>
            <a:off x="8685515" y="1746335"/>
            <a:ext cx="411600" cy="411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g3bbd96013e6_0_63"/>
          <p:cNvSpPr/>
          <p:nvPr/>
        </p:nvSpPr>
        <p:spPr>
          <a:xfrm rot="-5400000">
            <a:off x="7765170" y="2644430"/>
            <a:ext cx="1083564" cy="51435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lnTo>
                  <a:pt x="0" y="0"/>
                </a:lnTo>
                <a:lnTo>
                  <a:pt x="685800" y="0"/>
                </a:lnTo>
                <a:lnTo>
                  <a:pt x="1026399" y="0"/>
                </a:lnTo>
                <a:cubicBezTo>
                  <a:pt x="1217048" y="0"/>
                  <a:pt x="1371600" y="153522"/>
                  <a:pt x="1371600" y="342900"/>
                </a:cubicBezTo>
                <a:cubicBezTo>
                  <a:pt x="1371600" y="532279"/>
                  <a:pt x="1217048" y="685800"/>
                  <a:pt x="1026399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g3bbd96013e6_0_63"/>
          <p:cNvSpPr/>
          <p:nvPr/>
        </p:nvSpPr>
        <p:spPr>
          <a:xfrm rot="10800000">
            <a:off x="8049776" y="4885587"/>
            <a:ext cx="514350" cy="258784"/>
          </a:xfrm>
          <a:custGeom>
            <a:rect b="b" l="l" r="r" t="t"/>
            <a:pathLst>
              <a:path extrusionOk="0" h="345045" w="685800">
                <a:moveTo>
                  <a:pt x="685800" y="345045"/>
                </a:moveTo>
                <a:lnTo>
                  <a:pt x="0" y="345045"/>
                </a:lnTo>
                <a:lnTo>
                  <a:pt x="0" y="0"/>
                </a:lnTo>
                <a:lnTo>
                  <a:pt x="589515" y="0"/>
                </a:lnTo>
                <a:lnTo>
                  <a:pt x="631906" y="78101"/>
                </a:lnTo>
                <a:cubicBezTo>
                  <a:pt x="666610" y="160149"/>
                  <a:pt x="685800" y="250356"/>
                  <a:pt x="685800" y="345045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g3bbd96013e6_0_63"/>
          <p:cNvSpPr/>
          <p:nvPr/>
        </p:nvSpPr>
        <p:spPr>
          <a:xfrm rot="-2700000">
            <a:off x="8708732" y="4961136"/>
            <a:ext cx="364727" cy="364727"/>
          </a:xfrm>
          <a:custGeom>
            <a:rect b="b" l="l" r="r" t="t"/>
            <a:pathLst>
              <a:path extrusionOk="0" h="486605" w="486605">
                <a:moveTo>
                  <a:pt x="486605" y="0"/>
                </a:moveTo>
                <a:lnTo>
                  <a:pt x="486605" y="486605"/>
                </a:lnTo>
                <a:lnTo>
                  <a:pt x="484961" y="486605"/>
                </a:lnTo>
                <a:lnTo>
                  <a:pt x="0" y="1645"/>
                </a:lnTo>
                <a:lnTo>
                  <a:pt x="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3bbd96013e6_0_63"/>
          <p:cNvSpPr/>
          <p:nvPr/>
        </p:nvSpPr>
        <p:spPr>
          <a:xfrm rot="-2700000">
            <a:off x="8347966" y="-255158"/>
            <a:ext cx="510317" cy="510317"/>
          </a:xfrm>
          <a:custGeom>
            <a:rect b="b" l="l" r="r" t="t"/>
            <a:pathLst>
              <a:path extrusionOk="0" h="680846" w="680847">
                <a:moveTo>
                  <a:pt x="1" y="0"/>
                </a:moveTo>
                <a:lnTo>
                  <a:pt x="680847" y="680846"/>
                </a:lnTo>
                <a:lnTo>
                  <a:pt x="0" y="68084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ntent Slide">
  <p:cSld name="1_Content Slide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oogle Shape;105;g3bbd96013e6_0_95"/>
          <p:cNvGrpSpPr/>
          <p:nvPr/>
        </p:nvGrpSpPr>
        <p:grpSpPr>
          <a:xfrm>
            <a:off x="73" y="203402"/>
            <a:ext cx="286229" cy="581388"/>
            <a:chOff x="2151529" y="1089212"/>
            <a:chExt cx="228398" cy="463923"/>
          </a:xfrm>
        </p:grpSpPr>
        <p:sp>
          <p:nvSpPr>
            <p:cNvPr id="106" name="Google Shape;106;g3bbd96013e6_0_95"/>
            <p:cNvSpPr/>
            <p:nvPr/>
          </p:nvSpPr>
          <p:spPr>
            <a:xfrm>
              <a:off x="2151529" y="1089212"/>
              <a:ext cx="228398" cy="309282"/>
            </a:xfrm>
            <a:custGeom>
              <a:rect b="b" l="l" r="r" t="t"/>
              <a:pathLst>
                <a:path extrusionOk="0" h="309282" w="289112">
                  <a:moveTo>
                    <a:pt x="0" y="0"/>
                  </a:moveTo>
                  <a:lnTo>
                    <a:pt x="0" y="309282"/>
                  </a:lnTo>
                  <a:lnTo>
                    <a:pt x="289112" y="1613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g3bbd96013e6_0_95"/>
            <p:cNvSpPr/>
            <p:nvPr/>
          </p:nvSpPr>
          <p:spPr>
            <a:xfrm>
              <a:off x="2151529" y="1243853"/>
              <a:ext cx="127747" cy="309282"/>
            </a:xfrm>
            <a:custGeom>
              <a:rect b="b" l="l" r="r" t="t"/>
              <a:pathLst>
                <a:path extrusionOk="0" h="309282" w="127747">
                  <a:moveTo>
                    <a:pt x="0" y="0"/>
                  </a:moveTo>
                  <a:lnTo>
                    <a:pt x="0" y="309282"/>
                  </a:lnTo>
                  <a:lnTo>
                    <a:pt x="127747" y="181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08" name="Google Shape;108;g3bbd96013e6_0_9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89973" y="4667572"/>
            <a:ext cx="1266190" cy="349458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g3bbd96013e6_0_95"/>
          <p:cNvSpPr txBox="1"/>
          <p:nvPr/>
        </p:nvSpPr>
        <p:spPr>
          <a:xfrm>
            <a:off x="311744" y="4800600"/>
            <a:ext cx="24672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© 2026 Miracle Software Systems, Inc. | #</a:t>
            </a:r>
            <a:fld id="{00000000-1234-1234-1234-123412341234}" type="slidenum">
              <a:rPr b="1" lang="en-US" sz="1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sz="100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g3bbd96013e6_0_95"/>
          <p:cNvSpPr txBox="1"/>
          <p:nvPr>
            <p:ph idx="1" type="body"/>
          </p:nvPr>
        </p:nvSpPr>
        <p:spPr>
          <a:xfrm>
            <a:off x="437630" y="125222"/>
            <a:ext cx="8307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1" name="Google Shape;111;g3bbd96013e6_0_95"/>
          <p:cNvSpPr txBox="1"/>
          <p:nvPr>
            <p:ph idx="2" type="body"/>
          </p:nvPr>
        </p:nvSpPr>
        <p:spPr>
          <a:xfrm>
            <a:off x="276225" y="951768"/>
            <a:ext cx="8469000" cy="3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">
  <p:cSld name="Content Slide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bd96013e6_0_103"/>
          <p:cNvSpPr txBox="1"/>
          <p:nvPr>
            <p:ph idx="1" type="body"/>
          </p:nvPr>
        </p:nvSpPr>
        <p:spPr>
          <a:xfrm>
            <a:off x="453324" y="989347"/>
            <a:ext cx="60075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4" name="Google Shape;114;g3bbd96013e6_0_103"/>
          <p:cNvSpPr txBox="1"/>
          <p:nvPr>
            <p:ph idx="2" type="body"/>
          </p:nvPr>
        </p:nvSpPr>
        <p:spPr>
          <a:xfrm>
            <a:off x="453324" y="2541815"/>
            <a:ext cx="6007500" cy="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b="1" sz="1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5" name="Google Shape;115;g3bbd96013e6_0_103"/>
          <p:cNvSpPr/>
          <p:nvPr/>
        </p:nvSpPr>
        <p:spPr>
          <a:xfrm>
            <a:off x="506207" y="2316157"/>
            <a:ext cx="11937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3bbd96013e6_0_103"/>
          <p:cNvSpPr/>
          <p:nvPr/>
        </p:nvSpPr>
        <p:spPr>
          <a:xfrm>
            <a:off x="1699847" y="2316157"/>
            <a:ext cx="591900" cy="6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3bbd96013e6_0_103"/>
          <p:cNvSpPr/>
          <p:nvPr/>
        </p:nvSpPr>
        <p:spPr>
          <a:xfrm>
            <a:off x="2291862" y="2316157"/>
            <a:ext cx="293100" cy="6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g3bbd96013e6_0_103"/>
          <p:cNvSpPr/>
          <p:nvPr/>
        </p:nvSpPr>
        <p:spPr>
          <a:xfrm>
            <a:off x="2584939" y="2316157"/>
            <a:ext cx="159600" cy="67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3bbd96013e6_0_103"/>
          <p:cNvSpPr/>
          <p:nvPr/>
        </p:nvSpPr>
        <p:spPr>
          <a:xfrm>
            <a:off x="8106868" y="1435004"/>
            <a:ext cx="411600" cy="411600"/>
          </a:xfrm>
          <a:prstGeom prst="ellipse">
            <a:avLst/>
          </a:prstGeom>
          <a:solidFill>
            <a:srgbClr val="23252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3bbd96013e6_0_103"/>
          <p:cNvSpPr/>
          <p:nvPr/>
        </p:nvSpPr>
        <p:spPr>
          <a:xfrm>
            <a:off x="8059246" y="2645303"/>
            <a:ext cx="1083900" cy="1083900"/>
          </a:xfrm>
          <a:prstGeom prst="pie">
            <a:avLst>
              <a:gd fmla="val 0" name="adj1"/>
              <a:gd fmla="val 16200000" name="adj2"/>
            </a:avLst>
          </a:prstGeom>
          <a:solidFill>
            <a:schemeClr val="accent5">
              <a:alpha val="1490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g3bbd96013e6_0_103"/>
          <p:cNvSpPr/>
          <p:nvPr/>
        </p:nvSpPr>
        <p:spPr>
          <a:xfrm>
            <a:off x="8066327" y="798444"/>
            <a:ext cx="1083564" cy="541782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rgbClr val="9C2D3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g3bbd96013e6_0_103"/>
          <p:cNvSpPr/>
          <p:nvPr/>
        </p:nvSpPr>
        <p:spPr>
          <a:xfrm rot="10800000">
            <a:off x="8057148" y="3856886"/>
            <a:ext cx="510921" cy="514350"/>
          </a:xfrm>
          <a:custGeom>
            <a:rect b="b" l="l" r="r" t="t"/>
            <a:pathLst>
              <a:path extrusionOk="0" h="685800" w="681228">
                <a:moveTo>
                  <a:pt x="0" y="0"/>
                </a:moveTo>
                <a:lnTo>
                  <a:pt x="338328" y="0"/>
                </a:lnTo>
                <a:cubicBezTo>
                  <a:pt x="527706" y="0"/>
                  <a:pt x="681228" y="153522"/>
                  <a:pt x="681228" y="342900"/>
                </a:cubicBezTo>
                <a:cubicBezTo>
                  <a:pt x="681228" y="532279"/>
                  <a:pt x="527706" y="685800"/>
                  <a:pt x="338328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rgbClr val="E3414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g3bbd96013e6_0_103"/>
          <p:cNvSpPr/>
          <p:nvPr/>
        </p:nvSpPr>
        <p:spPr>
          <a:xfrm>
            <a:off x="8639126" y="193120"/>
            <a:ext cx="514500" cy="514500"/>
          </a:xfrm>
          <a:prstGeom prst="roundRect">
            <a:avLst>
              <a:gd fmla="val 16667" name="adj"/>
            </a:avLst>
          </a:prstGeom>
          <a:solidFill>
            <a:srgbClr val="E9AEB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g3bbd96013e6_0_103"/>
          <p:cNvSpPr/>
          <p:nvPr/>
        </p:nvSpPr>
        <p:spPr>
          <a:xfrm rot="5400000">
            <a:off x="8354520" y="1719611"/>
            <a:ext cx="1083564" cy="51435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lnTo>
                  <a:pt x="0" y="0"/>
                </a:lnTo>
                <a:lnTo>
                  <a:pt x="685800" y="0"/>
                </a:lnTo>
                <a:lnTo>
                  <a:pt x="1026399" y="0"/>
                </a:lnTo>
                <a:cubicBezTo>
                  <a:pt x="1217048" y="0"/>
                  <a:pt x="1371600" y="153522"/>
                  <a:pt x="1371600" y="342900"/>
                </a:cubicBezTo>
                <a:cubicBezTo>
                  <a:pt x="1371600" y="532279"/>
                  <a:pt x="1217048" y="685800"/>
                  <a:pt x="1026399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rgbClr val="E3414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g3bbd96013e6_0_103"/>
          <p:cNvSpPr/>
          <p:nvPr/>
        </p:nvSpPr>
        <p:spPr>
          <a:xfrm>
            <a:off x="8055433" y="2003207"/>
            <a:ext cx="514350" cy="514350"/>
          </a:xfrm>
          <a:custGeom>
            <a:rect b="b" l="l" r="r" t="t"/>
            <a:pathLst>
              <a:path extrusionOk="0" h="685800" w="685800">
                <a:moveTo>
                  <a:pt x="0" y="0"/>
                </a:moveTo>
                <a:cubicBezTo>
                  <a:pt x="378757" y="0"/>
                  <a:pt x="685800" y="307043"/>
                  <a:pt x="685800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rgbClr val="E9AEB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g3bbd96013e6_0_103"/>
          <p:cNvSpPr/>
          <p:nvPr/>
        </p:nvSpPr>
        <p:spPr>
          <a:xfrm rot="5400000">
            <a:off x="8381951" y="4114062"/>
            <a:ext cx="1028700" cy="51435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g3bbd96013e6_0_103"/>
          <p:cNvSpPr/>
          <p:nvPr/>
        </p:nvSpPr>
        <p:spPr>
          <a:xfrm>
            <a:off x="8106868" y="4474107"/>
            <a:ext cx="411600" cy="411600"/>
          </a:xfrm>
          <a:prstGeom prst="ellipse">
            <a:avLst/>
          </a:prstGeom>
          <a:solidFill>
            <a:srgbClr val="9C2D3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g3bbd96013e6_0_103"/>
          <p:cNvSpPr/>
          <p:nvPr/>
        </p:nvSpPr>
        <p:spPr>
          <a:xfrm rot="5400000">
            <a:off x="7960601" y="94833"/>
            <a:ext cx="704015" cy="514349"/>
          </a:xfrm>
          <a:custGeom>
            <a:rect b="b" l="l" r="r" t="t"/>
            <a:pathLst>
              <a:path extrusionOk="0" h="685799" w="938686">
                <a:moveTo>
                  <a:pt x="0" y="685799"/>
                </a:moveTo>
                <a:lnTo>
                  <a:pt x="0" y="49530"/>
                </a:lnTo>
                <a:lnTo>
                  <a:pt x="114673" y="13933"/>
                </a:lnTo>
                <a:cubicBezTo>
                  <a:pt x="159317" y="4798"/>
                  <a:pt x="205541" y="0"/>
                  <a:pt x="252886" y="0"/>
                </a:cubicBezTo>
                <a:cubicBezTo>
                  <a:pt x="584298" y="0"/>
                  <a:pt x="860805" y="235080"/>
                  <a:pt x="924753" y="547587"/>
                </a:cubicBezTo>
                <a:lnTo>
                  <a:pt x="938686" y="685799"/>
                </a:lnTo>
                <a:close/>
              </a:path>
            </a:pathLst>
          </a:custGeom>
          <a:solidFill>
            <a:srgbClr val="E3414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g3bbd96013e6_0_103"/>
          <p:cNvSpPr/>
          <p:nvPr/>
        </p:nvSpPr>
        <p:spPr>
          <a:xfrm rot="-2700000">
            <a:off x="8824778" y="-70440"/>
            <a:ext cx="142922" cy="142922"/>
          </a:xfrm>
          <a:custGeom>
            <a:rect b="b" l="l" r="r" t="t"/>
            <a:pathLst>
              <a:path extrusionOk="0" h="190681" w="190682">
                <a:moveTo>
                  <a:pt x="0" y="0"/>
                </a:moveTo>
                <a:lnTo>
                  <a:pt x="190682" y="190681"/>
                </a:lnTo>
                <a:lnTo>
                  <a:pt x="0" y="19068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3bbd96013e6_0_103"/>
          <p:cNvSpPr/>
          <p:nvPr/>
        </p:nvSpPr>
        <p:spPr>
          <a:xfrm>
            <a:off x="8055434" y="4989196"/>
            <a:ext cx="367435" cy="155176"/>
          </a:xfrm>
          <a:custGeom>
            <a:rect b="b" l="l" r="r" t="t"/>
            <a:pathLst>
              <a:path extrusionOk="0" h="206901" w="489913">
                <a:moveTo>
                  <a:pt x="0" y="0"/>
                </a:moveTo>
                <a:cubicBezTo>
                  <a:pt x="189379" y="0"/>
                  <a:pt x="360828" y="76761"/>
                  <a:pt x="484934" y="200866"/>
                </a:cubicBezTo>
                <a:lnTo>
                  <a:pt x="489913" y="206901"/>
                </a:lnTo>
                <a:lnTo>
                  <a:pt x="0" y="206901"/>
                </a:lnTo>
                <a:close/>
              </a:path>
            </a:pathLst>
          </a:custGeom>
          <a:solidFill>
            <a:srgbClr val="E3414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g3bbd96013e6_0_103"/>
          <p:cNvSpPr/>
          <p:nvPr/>
        </p:nvSpPr>
        <p:spPr>
          <a:xfrm rot="5400000">
            <a:off x="8818714" y="4809608"/>
            <a:ext cx="155176" cy="514350"/>
          </a:xfrm>
          <a:custGeom>
            <a:rect b="b" l="l" r="r" t="t"/>
            <a:pathLst>
              <a:path extrusionOk="0" h="685800" w="206901">
                <a:moveTo>
                  <a:pt x="0" y="685800"/>
                </a:moveTo>
                <a:lnTo>
                  <a:pt x="0" y="0"/>
                </a:lnTo>
                <a:cubicBezTo>
                  <a:pt x="47345" y="0"/>
                  <a:pt x="93569" y="4798"/>
                  <a:pt x="138213" y="13933"/>
                </a:cubicBezTo>
                <a:lnTo>
                  <a:pt x="206901" y="35255"/>
                </a:lnTo>
                <a:lnTo>
                  <a:pt x="206901" y="685800"/>
                </a:lnTo>
                <a:close/>
              </a:path>
            </a:pathLst>
          </a:custGeom>
          <a:solidFill>
            <a:srgbClr val="E9AEB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g3bbd96013e6_0_103"/>
          <p:cNvSpPr/>
          <p:nvPr/>
        </p:nvSpPr>
        <p:spPr>
          <a:xfrm>
            <a:off x="8106868" y="1435004"/>
            <a:ext cx="411600" cy="411600"/>
          </a:xfrm>
          <a:prstGeom prst="ellipse">
            <a:avLst/>
          </a:prstGeom>
          <a:solidFill>
            <a:srgbClr val="23252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g3bbd96013e6_0_103"/>
          <p:cNvSpPr/>
          <p:nvPr/>
        </p:nvSpPr>
        <p:spPr>
          <a:xfrm>
            <a:off x="8066327" y="798444"/>
            <a:ext cx="1083564" cy="541782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g3bbd96013e6_0_103"/>
          <p:cNvSpPr/>
          <p:nvPr/>
        </p:nvSpPr>
        <p:spPr>
          <a:xfrm rot="10800000">
            <a:off x="8057148" y="3856886"/>
            <a:ext cx="510921" cy="514350"/>
          </a:xfrm>
          <a:custGeom>
            <a:rect b="b" l="l" r="r" t="t"/>
            <a:pathLst>
              <a:path extrusionOk="0" h="685800" w="681228">
                <a:moveTo>
                  <a:pt x="0" y="0"/>
                </a:moveTo>
                <a:lnTo>
                  <a:pt x="338328" y="0"/>
                </a:lnTo>
                <a:cubicBezTo>
                  <a:pt x="527706" y="0"/>
                  <a:pt x="681228" y="153522"/>
                  <a:pt x="681228" y="342900"/>
                </a:cubicBezTo>
                <a:cubicBezTo>
                  <a:pt x="681228" y="532279"/>
                  <a:pt x="527706" y="685800"/>
                  <a:pt x="338328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3bbd96013e6_0_103"/>
          <p:cNvSpPr/>
          <p:nvPr/>
        </p:nvSpPr>
        <p:spPr>
          <a:xfrm>
            <a:off x="8639126" y="193120"/>
            <a:ext cx="514500" cy="514500"/>
          </a:xfrm>
          <a:prstGeom prst="roundRect">
            <a:avLst>
              <a:gd fmla="val 16667" name="adj"/>
            </a:avLst>
          </a:prstGeom>
          <a:solidFill>
            <a:srgbClr val="97C3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g3bbd96013e6_0_103"/>
          <p:cNvSpPr/>
          <p:nvPr/>
        </p:nvSpPr>
        <p:spPr>
          <a:xfrm rot="5400000">
            <a:off x="8354520" y="1719611"/>
            <a:ext cx="1083564" cy="51435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lnTo>
                  <a:pt x="0" y="0"/>
                </a:lnTo>
                <a:lnTo>
                  <a:pt x="685800" y="0"/>
                </a:lnTo>
                <a:lnTo>
                  <a:pt x="1026399" y="0"/>
                </a:lnTo>
                <a:cubicBezTo>
                  <a:pt x="1217048" y="0"/>
                  <a:pt x="1371600" y="153522"/>
                  <a:pt x="1371600" y="342900"/>
                </a:cubicBezTo>
                <a:cubicBezTo>
                  <a:pt x="1371600" y="532279"/>
                  <a:pt x="1217048" y="685800"/>
                  <a:pt x="1026399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g3bbd96013e6_0_103"/>
          <p:cNvSpPr/>
          <p:nvPr/>
        </p:nvSpPr>
        <p:spPr>
          <a:xfrm>
            <a:off x="8055433" y="2003207"/>
            <a:ext cx="514350" cy="514350"/>
          </a:xfrm>
          <a:custGeom>
            <a:rect b="b" l="l" r="r" t="t"/>
            <a:pathLst>
              <a:path extrusionOk="0" h="685800" w="685800">
                <a:moveTo>
                  <a:pt x="0" y="0"/>
                </a:moveTo>
                <a:cubicBezTo>
                  <a:pt x="378757" y="0"/>
                  <a:pt x="685800" y="307043"/>
                  <a:pt x="685800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rgbClr val="97C3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g3bbd96013e6_0_103"/>
          <p:cNvSpPr/>
          <p:nvPr/>
        </p:nvSpPr>
        <p:spPr>
          <a:xfrm rot="5400000">
            <a:off x="8381951" y="4114062"/>
            <a:ext cx="1028700" cy="51435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g3bbd96013e6_0_103"/>
          <p:cNvSpPr/>
          <p:nvPr/>
        </p:nvSpPr>
        <p:spPr>
          <a:xfrm>
            <a:off x="8106868" y="4474107"/>
            <a:ext cx="411600" cy="411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g3bbd96013e6_0_103"/>
          <p:cNvSpPr/>
          <p:nvPr/>
        </p:nvSpPr>
        <p:spPr>
          <a:xfrm rot="5400000">
            <a:off x="7960601" y="94833"/>
            <a:ext cx="704015" cy="514349"/>
          </a:xfrm>
          <a:custGeom>
            <a:rect b="b" l="l" r="r" t="t"/>
            <a:pathLst>
              <a:path extrusionOk="0" h="685799" w="938686">
                <a:moveTo>
                  <a:pt x="0" y="685799"/>
                </a:moveTo>
                <a:lnTo>
                  <a:pt x="0" y="49530"/>
                </a:lnTo>
                <a:lnTo>
                  <a:pt x="114673" y="13933"/>
                </a:lnTo>
                <a:cubicBezTo>
                  <a:pt x="159317" y="4798"/>
                  <a:pt x="205541" y="0"/>
                  <a:pt x="252886" y="0"/>
                </a:cubicBezTo>
                <a:cubicBezTo>
                  <a:pt x="584298" y="0"/>
                  <a:pt x="860805" y="235080"/>
                  <a:pt x="924753" y="547587"/>
                </a:cubicBezTo>
                <a:lnTo>
                  <a:pt x="938686" y="685799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3bbd96013e6_0_103"/>
          <p:cNvSpPr/>
          <p:nvPr/>
        </p:nvSpPr>
        <p:spPr>
          <a:xfrm rot="-2700000">
            <a:off x="8824778" y="-70440"/>
            <a:ext cx="142922" cy="142922"/>
          </a:xfrm>
          <a:custGeom>
            <a:rect b="b" l="l" r="r" t="t"/>
            <a:pathLst>
              <a:path extrusionOk="0" h="190681" w="190682">
                <a:moveTo>
                  <a:pt x="0" y="0"/>
                </a:moveTo>
                <a:lnTo>
                  <a:pt x="190682" y="190681"/>
                </a:lnTo>
                <a:lnTo>
                  <a:pt x="0" y="19068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g3bbd96013e6_0_103"/>
          <p:cNvSpPr/>
          <p:nvPr/>
        </p:nvSpPr>
        <p:spPr>
          <a:xfrm>
            <a:off x="8055434" y="4989196"/>
            <a:ext cx="367435" cy="155176"/>
          </a:xfrm>
          <a:custGeom>
            <a:rect b="b" l="l" r="r" t="t"/>
            <a:pathLst>
              <a:path extrusionOk="0" h="206901" w="489913">
                <a:moveTo>
                  <a:pt x="0" y="0"/>
                </a:moveTo>
                <a:cubicBezTo>
                  <a:pt x="189379" y="0"/>
                  <a:pt x="360828" y="76761"/>
                  <a:pt x="484934" y="200866"/>
                </a:cubicBezTo>
                <a:lnTo>
                  <a:pt x="489913" y="206901"/>
                </a:lnTo>
                <a:lnTo>
                  <a:pt x="0" y="20690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bd96013e6_0_103"/>
          <p:cNvSpPr/>
          <p:nvPr/>
        </p:nvSpPr>
        <p:spPr>
          <a:xfrm rot="5400000">
            <a:off x="8818714" y="4809608"/>
            <a:ext cx="155176" cy="514350"/>
          </a:xfrm>
          <a:custGeom>
            <a:rect b="b" l="l" r="r" t="t"/>
            <a:pathLst>
              <a:path extrusionOk="0" h="685800" w="206901">
                <a:moveTo>
                  <a:pt x="0" y="685800"/>
                </a:moveTo>
                <a:lnTo>
                  <a:pt x="0" y="0"/>
                </a:lnTo>
                <a:cubicBezTo>
                  <a:pt x="47345" y="0"/>
                  <a:pt x="93569" y="4798"/>
                  <a:pt x="138213" y="13933"/>
                </a:cubicBezTo>
                <a:lnTo>
                  <a:pt x="206901" y="35255"/>
                </a:lnTo>
                <a:lnTo>
                  <a:pt x="206901" y="685800"/>
                </a:lnTo>
                <a:close/>
              </a:path>
            </a:pathLst>
          </a:custGeom>
          <a:solidFill>
            <a:srgbClr val="97C3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g3bbd96013e6_0_10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6056" y="4648522"/>
            <a:ext cx="1266190" cy="34945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g3bbd96013e6_0_103"/>
          <p:cNvSpPr txBox="1"/>
          <p:nvPr/>
        </p:nvSpPr>
        <p:spPr>
          <a:xfrm>
            <a:off x="311744" y="4800600"/>
            <a:ext cx="24672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© 2026 Miracle Software Systems, Inc. | #</a:t>
            </a:r>
            <a:fld id="{00000000-1234-1234-1234-123412341234}" type="slidenum">
              <a:rPr b="1" lang="en-US" sz="1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sz="100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>
  <p:cSld name="Thank You Slide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" name="Google Shape;147;g3bbd96013e6_0_137"/>
          <p:cNvGrpSpPr/>
          <p:nvPr/>
        </p:nvGrpSpPr>
        <p:grpSpPr>
          <a:xfrm>
            <a:off x="2579708" y="1374002"/>
            <a:ext cx="3984525" cy="2670373"/>
            <a:chOff x="3525290" y="1832002"/>
            <a:chExt cx="5312700" cy="3560497"/>
          </a:xfrm>
        </p:grpSpPr>
        <p:sp>
          <p:nvSpPr>
            <p:cNvPr id="148" name="Google Shape;148;g3bbd96013e6_0_137"/>
            <p:cNvSpPr txBox="1"/>
            <p:nvPr/>
          </p:nvSpPr>
          <p:spPr>
            <a:xfrm>
              <a:off x="4088912" y="1832002"/>
              <a:ext cx="4014300" cy="101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THANK YOU</a:t>
              </a:r>
              <a:endParaRPr sz="1100"/>
            </a:p>
          </p:txBody>
        </p:sp>
        <p:sp>
          <p:nvSpPr>
            <p:cNvPr id="149" name="Google Shape;149;g3bbd96013e6_0_137"/>
            <p:cNvSpPr/>
            <p:nvPr/>
          </p:nvSpPr>
          <p:spPr>
            <a:xfrm>
              <a:off x="3525290" y="2869188"/>
              <a:ext cx="5312700" cy="19356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50" name="Google Shape;150;g3bbd96013e6_0_137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3958898" y="3223523"/>
              <a:ext cx="4445565" cy="12269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1" name="Google Shape;151;g3bbd96013e6_0_137"/>
            <p:cNvSpPr/>
            <p:nvPr/>
          </p:nvSpPr>
          <p:spPr>
            <a:xfrm>
              <a:off x="4175152" y="4804799"/>
              <a:ext cx="4092900" cy="5877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g3bbd96013e6_0_137"/>
            <p:cNvSpPr txBox="1"/>
            <p:nvPr/>
          </p:nvSpPr>
          <p:spPr>
            <a:xfrm>
              <a:off x="4957344" y="4889650"/>
              <a:ext cx="2528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www.miraclesoft.com</a:t>
              </a:r>
              <a:endParaRPr sz="1100"/>
            </a:p>
          </p:txBody>
        </p:sp>
      </p:grpSp>
      <p:sp>
        <p:nvSpPr>
          <p:cNvPr id="153" name="Google Shape;153;g3bbd96013e6_0_137"/>
          <p:cNvSpPr/>
          <p:nvPr/>
        </p:nvSpPr>
        <p:spPr>
          <a:xfrm>
            <a:off x="51435" y="1435004"/>
            <a:ext cx="411600" cy="411600"/>
          </a:xfrm>
          <a:prstGeom prst="ellipse">
            <a:avLst/>
          </a:prstGeom>
          <a:solidFill>
            <a:srgbClr val="23252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3bbd96013e6_0_137"/>
          <p:cNvSpPr/>
          <p:nvPr/>
        </p:nvSpPr>
        <p:spPr>
          <a:xfrm>
            <a:off x="3813" y="2645303"/>
            <a:ext cx="1083900" cy="1083900"/>
          </a:xfrm>
          <a:prstGeom prst="pie">
            <a:avLst>
              <a:gd fmla="val 0" name="adj1"/>
              <a:gd fmla="val 16200000" name="adj2"/>
            </a:avLst>
          </a:prstGeom>
          <a:solidFill>
            <a:schemeClr val="accent5">
              <a:alpha val="1490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3bbd96013e6_0_137"/>
          <p:cNvSpPr/>
          <p:nvPr/>
        </p:nvSpPr>
        <p:spPr>
          <a:xfrm>
            <a:off x="10894" y="798444"/>
            <a:ext cx="1083564" cy="541782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rgbClr val="9C2D3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3bbd96013e6_0_137"/>
          <p:cNvSpPr/>
          <p:nvPr/>
        </p:nvSpPr>
        <p:spPr>
          <a:xfrm rot="10800000">
            <a:off x="1715" y="3856886"/>
            <a:ext cx="510921" cy="514350"/>
          </a:xfrm>
          <a:custGeom>
            <a:rect b="b" l="l" r="r" t="t"/>
            <a:pathLst>
              <a:path extrusionOk="0" h="685800" w="681228">
                <a:moveTo>
                  <a:pt x="0" y="0"/>
                </a:moveTo>
                <a:lnTo>
                  <a:pt x="338328" y="0"/>
                </a:lnTo>
                <a:cubicBezTo>
                  <a:pt x="527706" y="0"/>
                  <a:pt x="681228" y="153522"/>
                  <a:pt x="681228" y="342900"/>
                </a:cubicBezTo>
                <a:cubicBezTo>
                  <a:pt x="681228" y="532279"/>
                  <a:pt x="527706" y="685800"/>
                  <a:pt x="338328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rgbClr val="E3414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g3bbd96013e6_0_137"/>
          <p:cNvSpPr/>
          <p:nvPr/>
        </p:nvSpPr>
        <p:spPr>
          <a:xfrm>
            <a:off x="583694" y="193120"/>
            <a:ext cx="514500" cy="514500"/>
          </a:xfrm>
          <a:prstGeom prst="roundRect">
            <a:avLst>
              <a:gd fmla="val 16667" name="adj"/>
            </a:avLst>
          </a:prstGeom>
          <a:solidFill>
            <a:srgbClr val="E9AEB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g3bbd96013e6_0_137"/>
          <p:cNvSpPr/>
          <p:nvPr/>
        </p:nvSpPr>
        <p:spPr>
          <a:xfrm rot="5400000">
            <a:off x="299087" y="1719611"/>
            <a:ext cx="1083564" cy="51435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lnTo>
                  <a:pt x="0" y="0"/>
                </a:lnTo>
                <a:lnTo>
                  <a:pt x="685800" y="0"/>
                </a:lnTo>
                <a:lnTo>
                  <a:pt x="1026399" y="0"/>
                </a:lnTo>
                <a:cubicBezTo>
                  <a:pt x="1217048" y="0"/>
                  <a:pt x="1371600" y="153522"/>
                  <a:pt x="1371600" y="342900"/>
                </a:cubicBezTo>
                <a:cubicBezTo>
                  <a:pt x="1371600" y="532279"/>
                  <a:pt x="1217048" y="685800"/>
                  <a:pt x="1026399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rgbClr val="E3414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g3bbd96013e6_0_137"/>
          <p:cNvSpPr/>
          <p:nvPr/>
        </p:nvSpPr>
        <p:spPr>
          <a:xfrm>
            <a:off x="0" y="2003207"/>
            <a:ext cx="514350" cy="514350"/>
          </a:xfrm>
          <a:custGeom>
            <a:rect b="b" l="l" r="r" t="t"/>
            <a:pathLst>
              <a:path extrusionOk="0" h="685800" w="685800">
                <a:moveTo>
                  <a:pt x="0" y="0"/>
                </a:moveTo>
                <a:cubicBezTo>
                  <a:pt x="378757" y="0"/>
                  <a:pt x="685800" y="307043"/>
                  <a:pt x="685800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rgbClr val="E9AEB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g3bbd96013e6_0_137"/>
          <p:cNvSpPr/>
          <p:nvPr/>
        </p:nvSpPr>
        <p:spPr>
          <a:xfrm rot="5400000">
            <a:off x="7792601" y="1460233"/>
            <a:ext cx="1028700" cy="51435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rgbClr val="E9AEB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g3bbd96013e6_0_137"/>
          <p:cNvSpPr/>
          <p:nvPr/>
        </p:nvSpPr>
        <p:spPr>
          <a:xfrm rot="-5400000">
            <a:off x="8376905" y="728719"/>
            <a:ext cx="1028700" cy="51435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g3bbd96013e6_0_137"/>
          <p:cNvSpPr/>
          <p:nvPr/>
        </p:nvSpPr>
        <p:spPr>
          <a:xfrm rot="5400000">
            <a:off x="326518" y="4114062"/>
            <a:ext cx="1028700" cy="51435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g3bbd96013e6_0_137"/>
          <p:cNvSpPr/>
          <p:nvPr/>
        </p:nvSpPr>
        <p:spPr>
          <a:xfrm>
            <a:off x="51435" y="4474107"/>
            <a:ext cx="411600" cy="411600"/>
          </a:xfrm>
          <a:prstGeom prst="ellipse">
            <a:avLst/>
          </a:prstGeom>
          <a:solidFill>
            <a:srgbClr val="9C2D3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g3bbd96013e6_0_137"/>
          <p:cNvSpPr/>
          <p:nvPr/>
        </p:nvSpPr>
        <p:spPr>
          <a:xfrm rot="-5400000">
            <a:off x="8631191" y="2349815"/>
            <a:ext cx="514350" cy="514350"/>
          </a:xfrm>
          <a:custGeom>
            <a:rect b="b" l="l" r="r" t="t"/>
            <a:pathLst>
              <a:path extrusionOk="0" h="685800" w="685800">
                <a:moveTo>
                  <a:pt x="0" y="0"/>
                </a:moveTo>
                <a:cubicBezTo>
                  <a:pt x="378757" y="0"/>
                  <a:pt x="685800" y="307043"/>
                  <a:pt x="685800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rgbClr val="9C2D3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3bbd96013e6_0_137"/>
          <p:cNvSpPr/>
          <p:nvPr/>
        </p:nvSpPr>
        <p:spPr>
          <a:xfrm>
            <a:off x="8685515" y="4225985"/>
            <a:ext cx="411600" cy="411600"/>
          </a:xfrm>
          <a:prstGeom prst="ellipse">
            <a:avLst/>
          </a:prstGeom>
          <a:solidFill>
            <a:srgbClr val="DD3D4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g3bbd96013e6_0_137"/>
          <p:cNvSpPr/>
          <p:nvPr/>
        </p:nvSpPr>
        <p:spPr>
          <a:xfrm>
            <a:off x="8051491" y="470552"/>
            <a:ext cx="510921" cy="514350"/>
          </a:xfrm>
          <a:custGeom>
            <a:rect b="b" l="l" r="r" t="t"/>
            <a:pathLst>
              <a:path extrusionOk="0" h="685800" w="681228">
                <a:moveTo>
                  <a:pt x="0" y="0"/>
                </a:moveTo>
                <a:lnTo>
                  <a:pt x="338328" y="0"/>
                </a:lnTo>
                <a:cubicBezTo>
                  <a:pt x="527706" y="0"/>
                  <a:pt x="681228" y="153522"/>
                  <a:pt x="681228" y="342900"/>
                </a:cubicBezTo>
                <a:cubicBezTo>
                  <a:pt x="681228" y="532279"/>
                  <a:pt x="527706" y="685800"/>
                  <a:pt x="338328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rgbClr val="E3414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3bbd96013e6_0_137"/>
          <p:cNvSpPr/>
          <p:nvPr/>
        </p:nvSpPr>
        <p:spPr>
          <a:xfrm rot="10800000">
            <a:off x="8048117" y="3569754"/>
            <a:ext cx="1097280" cy="54864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rgbClr val="E9AEB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g3bbd96013e6_0_137"/>
          <p:cNvSpPr/>
          <p:nvPr/>
        </p:nvSpPr>
        <p:spPr>
          <a:xfrm rot="-5400000">
            <a:off x="8051491" y="4174550"/>
            <a:ext cx="510921" cy="514350"/>
          </a:xfrm>
          <a:custGeom>
            <a:rect b="b" l="l" r="r" t="t"/>
            <a:pathLst>
              <a:path extrusionOk="0" h="685800" w="681228">
                <a:moveTo>
                  <a:pt x="0" y="0"/>
                </a:moveTo>
                <a:lnTo>
                  <a:pt x="338328" y="0"/>
                </a:lnTo>
                <a:cubicBezTo>
                  <a:pt x="527706" y="0"/>
                  <a:pt x="681228" y="153522"/>
                  <a:pt x="681228" y="342900"/>
                </a:cubicBezTo>
                <a:cubicBezTo>
                  <a:pt x="681228" y="532279"/>
                  <a:pt x="527706" y="685800"/>
                  <a:pt x="338328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rgbClr val="9C2D3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3bbd96013e6_0_137"/>
          <p:cNvSpPr/>
          <p:nvPr/>
        </p:nvSpPr>
        <p:spPr>
          <a:xfrm rot="-2700000">
            <a:off x="8708761" y="3007110"/>
            <a:ext cx="364867" cy="364867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g3bbd96013e6_0_137"/>
          <p:cNvSpPr/>
          <p:nvPr/>
        </p:nvSpPr>
        <p:spPr>
          <a:xfrm>
            <a:off x="8685515" y="1746335"/>
            <a:ext cx="411600" cy="411600"/>
          </a:xfrm>
          <a:prstGeom prst="ellipse">
            <a:avLst/>
          </a:prstGeom>
          <a:solidFill>
            <a:srgbClr val="DD3D4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g3bbd96013e6_0_137"/>
          <p:cNvSpPr/>
          <p:nvPr/>
        </p:nvSpPr>
        <p:spPr>
          <a:xfrm rot="-5400000">
            <a:off x="7765170" y="2644430"/>
            <a:ext cx="1083564" cy="51435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lnTo>
                  <a:pt x="0" y="0"/>
                </a:lnTo>
                <a:lnTo>
                  <a:pt x="685800" y="0"/>
                </a:lnTo>
                <a:lnTo>
                  <a:pt x="1026399" y="0"/>
                </a:lnTo>
                <a:cubicBezTo>
                  <a:pt x="1217048" y="0"/>
                  <a:pt x="1371600" y="153522"/>
                  <a:pt x="1371600" y="342900"/>
                </a:cubicBezTo>
                <a:cubicBezTo>
                  <a:pt x="1371600" y="532279"/>
                  <a:pt x="1217048" y="685800"/>
                  <a:pt x="1026399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rgbClr val="E3414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g3bbd96013e6_0_137"/>
          <p:cNvSpPr/>
          <p:nvPr/>
        </p:nvSpPr>
        <p:spPr>
          <a:xfrm rot="5400000">
            <a:off x="-94832" y="94833"/>
            <a:ext cx="704015" cy="514349"/>
          </a:xfrm>
          <a:custGeom>
            <a:rect b="b" l="l" r="r" t="t"/>
            <a:pathLst>
              <a:path extrusionOk="0" h="685799" w="938686">
                <a:moveTo>
                  <a:pt x="0" y="685799"/>
                </a:moveTo>
                <a:lnTo>
                  <a:pt x="0" y="49530"/>
                </a:lnTo>
                <a:lnTo>
                  <a:pt x="114673" y="13933"/>
                </a:lnTo>
                <a:cubicBezTo>
                  <a:pt x="159317" y="4798"/>
                  <a:pt x="205541" y="0"/>
                  <a:pt x="252886" y="0"/>
                </a:cubicBezTo>
                <a:cubicBezTo>
                  <a:pt x="584298" y="0"/>
                  <a:pt x="860805" y="235080"/>
                  <a:pt x="924753" y="547587"/>
                </a:cubicBezTo>
                <a:lnTo>
                  <a:pt x="938686" y="685799"/>
                </a:lnTo>
                <a:close/>
              </a:path>
            </a:pathLst>
          </a:custGeom>
          <a:solidFill>
            <a:srgbClr val="E3414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g3bbd96013e6_0_137"/>
          <p:cNvSpPr/>
          <p:nvPr/>
        </p:nvSpPr>
        <p:spPr>
          <a:xfrm rot="-2700000">
            <a:off x="769345" y="-70440"/>
            <a:ext cx="142922" cy="142922"/>
          </a:xfrm>
          <a:custGeom>
            <a:rect b="b" l="l" r="r" t="t"/>
            <a:pathLst>
              <a:path extrusionOk="0" h="190681" w="190682">
                <a:moveTo>
                  <a:pt x="0" y="0"/>
                </a:moveTo>
                <a:lnTo>
                  <a:pt x="190682" y="190681"/>
                </a:lnTo>
                <a:lnTo>
                  <a:pt x="0" y="19068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g3bbd96013e6_0_137"/>
          <p:cNvSpPr/>
          <p:nvPr/>
        </p:nvSpPr>
        <p:spPr>
          <a:xfrm>
            <a:off x="1" y="4989196"/>
            <a:ext cx="367435" cy="155176"/>
          </a:xfrm>
          <a:custGeom>
            <a:rect b="b" l="l" r="r" t="t"/>
            <a:pathLst>
              <a:path extrusionOk="0" h="206901" w="489913">
                <a:moveTo>
                  <a:pt x="0" y="0"/>
                </a:moveTo>
                <a:cubicBezTo>
                  <a:pt x="189379" y="0"/>
                  <a:pt x="360828" y="76761"/>
                  <a:pt x="484934" y="200866"/>
                </a:cubicBezTo>
                <a:lnTo>
                  <a:pt x="489913" y="206901"/>
                </a:lnTo>
                <a:lnTo>
                  <a:pt x="0" y="206901"/>
                </a:lnTo>
                <a:close/>
              </a:path>
            </a:pathLst>
          </a:custGeom>
          <a:solidFill>
            <a:srgbClr val="E3414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3bbd96013e6_0_137"/>
          <p:cNvSpPr/>
          <p:nvPr/>
        </p:nvSpPr>
        <p:spPr>
          <a:xfrm rot="5400000">
            <a:off x="763281" y="4809608"/>
            <a:ext cx="155176" cy="514350"/>
          </a:xfrm>
          <a:custGeom>
            <a:rect b="b" l="l" r="r" t="t"/>
            <a:pathLst>
              <a:path extrusionOk="0" h="685800" w="206901">
                <a:moveTo>
                  <a:pt x="0" y="685800"/>
                </a:moveTo>
                <a:lnTo>
                  <a:pt x="0" y="0"/>
                </a:lnTo>
                <a:cubicBezTo>
                  <a:pt x="47345" y="0"/>
                  <a:pt x="93569" y="4798"/>
                  <a:pt x="138213" y="13933"/>
                </a:cubicBezTo>
                <a:lnTo>
                  <a:pt x="206901" y="35255"/>
                </a:lnTo>
                <a:lnTo>
                  <a:pt x="206901" y="685800"/>
                </a:lnTo>
                <a:close/>
              </a:path>
            </a:pathLst>
          </a:custGeom>
          <a:solidFill>
            <a:srgbClr val="E9AEB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g3bbd96013e6_0_137"/>
          <p:cNvSpPr/>
          <p:nvPr/>
        </p:nvSpPr>
        <p:spPr>
          <a:xfrm rot="10800000">
            <a:off x="8049776" y="4885587"/>
            <a:ext cx="514350" cy="258784"/>
          </a:xfrm>
          <a:custGeom>
            <a:rect b="b" l="l" r="r" t="t"/>
            <a:pathLst>
              <a:path extrusionOk="0" h="345045" w="685800">
                <a:moveTo>
                  <a:pt x="685800" y="345045"/>
                </a:moveTo>
                <a:lnTo>
                  <a:pt x="0" y="345045"/>
                </a:lnTo>
                <a:lnTo>
                  <a:pt x="0" y="0"/>
                </a:lnTo>
                <a:lnTo>
                  <a:pt x="589515" y="0"/>
                </a:lnTo>
                <a:lnTo>
                  <a:pt x="631906" y="78101"/>
                </a:lnTo>
                <a:cubicBezTo>
                  <a:pt x="666610" y="160149"/>
                  <a:pt x="685800" y="250356"/>
                  <a:pt x="685800" y="345045"/>
                </a:cubicBezTo>
                <a:close/>
              </a:path>
            </a:pathLst>
          </a:custGeom>
          <a:solidFill>
            <a:srgbClr val="E3414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g3bbd96013e6_0_137"/>
          <p:cNvSpPr/>
          <p:nvPr/>
        </p:nvSpPr>
        <p:spPr>
          <a:xfrm>
            <a:off x="51435" y="1435004"/>
            <a:ext cx="411600" cy="411600"/>
          </a:xfrm>
          <a:prstGeom prst="ellipse">
            <a:avLst/>
          </a:prstGeom>
          <a:solidFill>
            <a:srgbClr val="23252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g3bbd96013e6_0_137"/>
          <p:cNvSpPr/>
          <p:nvPr/>
        </p:nvSpPr>
        <p:spPr>
          <a:xfrm>
            <a:off x="10894" y="798444"/>
            <a:ext cx="1083564" cy="541782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g3bbd96013e6_0_137"/>
          <p:cNvSpPr/>
          <p:nvPr/>
        </p:nvSpPr>
        <p:spPr>
          <a:xfrm rot="10800000">
            <a:off x="1715" y="3856886"/>
            <a:ext cx="510921" cy="514350"/>
          </a:xfrm>
          <a:custGeom>
            <a:rect b="b" l="l" r="r" t="t"/>
            <a:pathLst>
              <a:path extrusionOk="0" h="685800" w="681228">
                <a:moveTo>
                  <a:pt x="0" y="0"/>
                </a:moveTo>
                <a:lnTo>
                  <a:pt x="338328" y="0"/>
                </a:lnTo>
                <a:cubicBezTo>
                  <a:pt x="527706" y="0"/>
                  <a:pt x="681228" y="153522"/>
                  <a:pt x="681228" y="342900"/>
                </a:cubicBezTo>
                <a:cubicBezTo>
                  <a:pt x="681228" y="532279"/>
                  <a:pt x="527706" y="685800"/>
                  <a:pt x="338328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3bbd96013e6_0_137"/>
          <p:cNvSpPr/>
          <p:nvPr/>
        </p:nvSpPr>
        <p:spPr>
          <a:xfrm>
            <a:off x="583694" y="193120"/>
            <a:ext cx="514500" cy="514500"/>
          </a:xfrm>
          <a:prstGeom prst="roundRect">
            <a:avLst>
              <a:gd fmla="val 16667" name="adj"/>
            </a:avLst>
          </a:prstGeom>
          <a:solidFill>
            <a:srgbClr val="97C3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g3bbd96013e6_0_137"/>
          <p:cNvSpPr/>
          <p:nvPr/>
        </p:nvSpPr>
        <p:spPr>
          <a:xfrm rot="5400000">
            <a:off x="299087" y="1719611"/>
            <a:ext cx="1083564" cy="51435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lnTo>
                  <a:pt x="0" y="0"/>
                </a:lnTo>
                <a:lnTo>
                  <a:pt x="685800" y="0"/>
                </a:lnTo>
                <a:lnTo>
                  <a:pt x="1026399" y="0"/>
                </a:lnTo>
                <a:cubicBezTo>
                  <a:pt x="1217048" y="0"/>
                  <a:pt x="1371600" y="153522"/>
                  <a:pt x="1371600" y="342900"/>
                </a:cubicBezTo>
                <a:cubicBezTo>
                  <a:pt x="1371600" y="532279"/>
                  <a:pt x="1217048" y="685800"/>
                  <a:pt x="1026399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g3bbd96013e6_0_137"/>
          <p:cNvSpPr/>
          <p:nvPr/>
        </p:nvSpPr>
        <p:spPr>
          <a:xfrm>
            <a:off x="0" y="2003207"/>
            <a:ext cx="514350" cy="514350"/>
          </a:xfrm>
          <a:custGeom>
            <a:rect b="b" l="l" r="r" t="t"/>
            <a:pathLst>
              <a:path extrusionOk="0" h="685800" w="685800">
                <a:moveTo>
                  <a:pt x="0" y="0"/>
                </a:moveTo>
                <a:cubicBezTo>
                  <a:pt x="378757" y="0"/>
                  <a:pt x="685800" y="307043"/>
                  <a:pt x="685800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rgbClr val="97C3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g3bbd96013e6_0_137"/>
          <p:cNvSpPr/>
          <p:nvPr/>
        </p:nvSpPr>
        <p:spPr>
          <a:xfrm rot="5400000">
            <a:off x="7792601" y="1460233"/>
            <a:ext cx="1028700" cy="51435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rgbClr val="97C3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g3bbd96013e6_0_137"/>
          <p:cNvSpPr/>
          <p:nvPr/>
        </p:nvSpPr>
        <p:spPr>
          <a:xfrm rot="-5400000">
            <a:off x="8376905" y="728719"/>
            <a:ext cx="1028700" cy="51435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g3bbd96013e6_0_137"/>
          <p:cNvSpPr/>
          <p:nvPr/>
        </p:nvSpPr>
        <p:spPr>
          <a:xfrm rot="5400000">
            <a:off x="326518" y="4114062"/>
            <a:ext cx="1028700" cy="51435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g3bbd96013e6_0_137"/>
          <p:cNvSpPr/>
          <p:nvPr/>
        </p:nvSpPr>
        <p:spPr>
          <a:xfrm>
            <a:off x="51435" y="4474107"/>
            <a:ext cx="411600" cy="411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g3bbd96013e6_0_137"/>
          <p:cNvSpPr/>
          <p:nvPr/>
        </p:nvSpPr>
        <p:spPr>
          <a:xfrm rot="-5400000">
            <a:off x="8631191" y="2349815"/>
            <a:ext cx="514350" cy="514350"/>
          </a:xfrm>
          <a:custGeom>
            <a:rect b="b" l="l" r="r" t="t"/>
            <a:pathLst>
              <a:path extrusionOk="0" h="685800" w="685800">
                <a:moveTo>
                  <a:pt x="0" y="0"/>
                </a:moveTo>
                <a:cubicBezTo>
                  <a:pt x="378757" y="0"/>
                  <a:pt x="685800" y="307043"/>
                  <a:pt x="685800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g3bbd96013e6_0_137"/>
          <p:cNvSpPr/>
          <p:nvPr/>
        </p:nvSpPr>
        <p:spPr>
          <a:xfrm>
            <a:off x="8685515" y="4225985"/>
            <a:ext cx="411600" cy="411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g3bbd96013e6_0_137"/>
          <p:cNvSpPr/>
          <p:nvPr/>
        </p:nvSpPr>
        <p:spPr>
          <a:xfrm>
            <a:off x="8051491" y="470552"/>
            <a:ext cx="510921" cy="514350"/>
          </a:xfrm>
          <a:custGeom>
            <a:rect b="b" l="l" r="r" t="t"/>
            <a:pathLst>
              <a:path extrusionOk="0" h="685800" w="681228">
                <a:moveTo>
                  <a:pt x="0" y="0"/>
                </a:moveTo>
                <a:lnTo>
                  <a:pt x="338328" y="0"/>
                </a:lnTo>
                <a:cubicBezTo>
                  <a:pt x="527706" y="0"/>
                  <a:pt x="681228" y="153522"/>
                  <a:pt x="681228" y="342900"/>
                </a:cubicBezTo>
                <a:cubicBezTo>
                  <a:pt x="681228" y="532279"/>
                  <a:pt x="527706" y="685800"/>
                  <a:pt x="338328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g3bbd96013e6_0_137"/>
          <p:cNvSpPr/>
          <p:nvPr/>
        </p:nvSpPr>
        <p:spPr>
          <a:xfrm rot="10800000">
            <a:off x="8048117" y="3569754"/>
            <a:ext cx="1097280" cy="54864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cubicBezTo>
                  <a:pt x="0" y="307043"/>
                  <a:pt x="307043" y="0"/>
                  <a:pt x="685800" y="0"/>
                </a:cubicBezTo>
                <a:cubicBezTo>
                  <a:pt x="1064557" y="0"/>
                  <a:pt x="1371600" y="307043"/>
                  <a:pt x="1371600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rgbClr val="97C3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g3bbd96013e6_0_137"/>
          <p:cNvSpPr/>
          <p:nvPr/>
        </p:nvSpPr>
        <p:spPr>
          <a:xfrm rot="-5400000">
            <a:off x="8051491" y="4174550"/>
            <a:ext cx="510921" cy="514350"/>
          </a:xfrm>
          <a:custGeom>
            <a:rect b="b" l="l" r="r" t="t"/>
            <a:pathLst>
              <a:path extrusionOk="0" h="685800" w="681228">
                <a:moveTo>
                  <a:pt x="0" y="0"/>
                </a:moveTo>
                <a:lnTo>
                  <a:pt x="338328" y="0"/>
                </a:lnTo>
                <a:cubicBezTo>
                  <a:pt x="527706" y="0"/>
                  <a:pt x="681228" y="153522"/>
                  <a:pt x="681228" y="342900"/>
                </a:cubicBezTo>
                <a:cubicBezTo>
                  <a:pt x="681228" y="532279"/>
                  <a:pt x="527706" y="685800"/>
                  <a:pt x="338328" y="685800"/>
                </a:cubicBezTo>
                <a:lnTo>
                  <a:pt x="0" y="6858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g3bbd96013e6_0_137"/>
          <p:cNvSpPr/>
          <p:nvPr/>
        </p:nvSpPr>
        <p:spPr>
          <a:xfrm rot="-2700000">
            <a:off x="8708761" y="3007110"/>
            <a:ext cx="364867" cy="364867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g3bbd96013e6_0_137"/>
          <p:cNvSpPr/>
          <p:nvPr/>
        </p:nvSpPr>
        <p:spPr>
          <a:xfrm>
            <a:off x="8685515" y="1746335"/>
            <a:ext cx="411600" cy="411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g3bbd96013e6_0_137"/>
          <p:cNvSpPr/>
          <p:nvPr/>
        </p:nvSpPr>
        <p:spPr>
          <a:xfrm rot="-5400000">
            <a:off x="7765170" y="2644430"/>
            <a:ext cx="1083564" cy="514350"/>
          </a:xfrm>
          <a:custGeom>
            <a:rect b="b" l="l" r="r" t="t"/>
            <a:pathLst>
              <a:path extrusionOk="0" h="685800" w="1371600">
                <a:moveTo>
                  <a:pt x="0" y="685800"/>
                </a:moveTo>
                <a:lnTo>
                  <a:pt x="0" y="0"/>
                </a:lnTo>
                <a:lnTo>
                  <a:pt x="685800" y="0"/>
                </a:lnTo>
                <a:lnTo>
                  <a:pt x="1026399" y="0"/>
                </a:lnTo>
                <a:cubicBezTo>
                  <a:pt x="1217048" y="0"/>
                  <a:pt x="1371600" y="153522"/>
                  <a:pt x="1371600" y="342900"/>
                </a:cubicBezTo>
                <a:cubicBezTo>
                  <a:pt x="1371600" y="532279"/>
                  <a:pt x="1217048" y="685800"/>
                  <a:pt x="1026399" y="685800"/>
                </a:cubicBezTo>
                <a:lnTo>
                  <a:pt x="685800" y="68580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3bbd96013e6_0_137"/>
          <p:cNvSpPr/>
          <p:nvPr/>
        </p:nvSpPr>
        <p:spPr>
          <a:xfrm rot="5400000">
            <a:off x="-94832" y="94833"/>
            <a:ext cx="704015" cy="514349"/>
          </a:xfrm>
          <a:custGeom>
            <a:rect b="b" l="l" r="r" t="t"/>
            <a:pathLst>
              <a:path extrusionOk="0" h="685799" w="938686">
                <a:moveTo>
                  <a:pt x="0" y="685799"/>
                </a:moveTo>
                <a:lnTo>
                  <a:pt x="0" y="49530"/>
                </a:lnTo>
                <a:lnTo>
                  <a:pt x="114673" y="13933"/>
                </a:lnTo>
                <a:cubicBezTo>
                  <a:pt x="159317" y="4798"/>
                  <a:pt x="205541" y="0"/>
                  <a:pt x="252886" y="0"/>
                </a:cubicBezTo>
                <a:cubicBezTo>
                  <a:pt x="584298" y="0"/>
                  <a:pt x="860805" y="235080"/>
                  <a:pt x="924753" y="547587"/>
                </a:cubicBezTo>
                <a:lnTo>
                  <a:pt x="938686" y="685799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g3bbd96013e6_0_137"/>
          <p:cNvSpPr/>
          <p:nvPr/>
        </p:nvSpPr>
        <p:spPr>
          <a:xfrm rot="-2700000">
            <a:off x="769345" y="-70440"/>
            <a:ext cx="142922" cy="142922"/>
          </a:xfrm>
          <a:custGeom>
            <a:rect b="b" l="l" r="r" t="t"/>
            <a:pathLst>
              <a:path extrusionOk="0" h="190681" w="190682">
                <a:moveTo>
                  <a:pt x="0" y="0"/>
                </a:moveTo>
                <a:lnTo>
                  <a:pt x="190682" y="190681"/>
                </a:lnTo>
                <a:lnTo>
                  <a:pt x="0" y="19068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g3bbd96013e6_0_137"/>
          <p:cNvSpPr/>
          <p:nvPr/>
        </p:nvSpPr>
        <p:spPr>
          <a:xfrm>
            <a:off x="1" y="4989196"/>
            <a:ext cx="367435" cy="155176"/>
          </a:xfrm>
          <a:custGeom>
            <a:rect b="b" l="l" r="r" t="t"/>
            <a:pathLst>
              <a:path extrusionOk="0" h="206901" w="489913">
                <a:moveTo>
                  <a:pt x="0" y="0"/>
                </a:moveTo>
                <a:cubicBezTo>
                  <a:pt x="189379" y="0"/>
                  <a:pt x="360828" y="76761"/>
                  <a:pt x="484934" y="200866"/>
                </a:cubicBezTo>
                <a:lnTo>
                  <a:pt x="489913" y="206901"/>
                </a:lnTo>
                <a:lnTo>
                  <a:pt x="0" y="20690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g3bbd96013e6_0_137"/>
          <p:cNvSpPr/>
          <p:nvPr/>
        </p:nvSpPr>
        <p:spPr>
          <a:xfrm rot="5400000">
            <a:off x="763281" y="4809608"/>
            <a:ext cx="155176" cy="514350"/>
          </a:xfrm>
          <a:custGeom>
            <a:rect b="b" l="l" r="r" t="t"/>
            <a:pathLst>
              <a:path extrusionOk="0" h="685800" w="206901">
                <a:moveTo>
                  <a:pt x="0" y="685800"/>
                </a:moveTo>
                <a:lnTo>
                  <a:pt x="0" y="0"/>
                </a:lnTo>
                <a:cubicBezTo>
                  <a:pt x="47345" y="0"/>
                  <a:pt x="93569" y="4798"/>
                  <a:pt x="138213" y="13933"/>
                </a:cubicBezTo>
                <a:lnTo>
                  <a:pt x="206901" y="35255"/>
                </a:lnTo>
                <a:lnTo>
                  <a:pt x="206901" y="685800"/>
                </a:lnTo>
                <a:close/>
              </a:path>
            </a:pathLst>
          </a:custGeom>
          <a:solidFill>
            <a:srgbClr val="97C3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g3bbd96013e6_0_137"/>
          <p:cNvSpPr/>
          <p:nvPr/>
        </p:nvSpPr>
        <p:spPr>
          <a:xfrm rot="10800000">
            <a:off x="8049776" y="4885587"/>
            <a:ext cx="514350" cy="258784"/>
          </a:xfrm>
          <a:custGeom>
            <a:rect b="b" l="l" r="r" t="t"/>
            <a:pathLst>
              <a:path extrusionOk="0" h="345045" w="685800">
                <a:moveTo>
                  <a:pt x="685800" y="345045"/>
                </a:moveTo>
                <a:lnTo>
                  <a:pt x="0" y="345045"/>
                </a:lnTo>
                <a:lnTo>
                  <a:pt x="0" y="0"/>
                </a:lnTo>
                <a:lnTo>
                  <a:pt x="589515" y="0"/>
                </a:lnTo>
                <a:lnTo>
                  <a:pt x="631906" y="78101"/>
                </a:lnTo>
                <a:cubicBezTo>
                  <a:pt x="666610" y="160149"/>
                  <a:pt x="685800" y="250356"/>
                  <a:pt x="685800" y="345045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g3bbd96013e6_0_137"/>
          <p:cNvSpPr/>
          <p:nvPr/>
        </p:nvSpPr>
        <p:spPr>
          <a:xfrm rot="-2700000">
            <a:off x="8708732" y="4961136"/>
            <a:ext cx="364727" cy="364727"/>
          </a:xfrm>
          <a:custGeom>
            <a:rect b="b" l="l" r="r" t="t"/>
            <a:pathLst>
              <a:path extrusionOk="0" h="486605" w="486605">
                <a:moveTo>
                  <a:pt x="486605" y="0"/>
                </a:moveTo>
                <a:lnTo>
                  <a:pt x="486605" y="486605"/>
                </a:lnTo>
                <a:lnTo>
                  <a:pt x="484961" y="486605"/>
                </a:lnTo>
                <a:lnTo>
                  <a:pt x="0" y="1645"/>
                </a:lnTo>
                <a:lnTo>
                  <a:pt x="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g3bbd96013e6_0_137"/>
          <p:cNvSpPr/>
          <p:nvPr/>
        </p:nvSpPr>
        <p:spPr>
          <a:xfrm rot="-2700000">
            <a:off x="8347966" y="-255158"/>
            <a:ext cx="510317" cy="510317"/>
          </a:xfrm>
          <a:custGeom>
            <a:rect b="b" l="l" r="r" t="t"/>
            <a:pathLst>
              <a:path extrusionOk="0" h="680846" w="680847">
                <a:moveTo>
                  <a:pt x="1" y="0"/>
                </a:moveTo>
                <a:lnTo>
                  <a:pt x="680847" y="680846"/>
                </a:lnTo>
                <a:lnTo>
                  <a:pt x="0" y="68084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ontent Slide">
  <p:cSld name="2_Content Slide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" name="Google Shape;203;g3bbd96013e6_0_193"/>
          <p:cNvGrpSpPr/>
          <p:nvPr/>
        </p:nvGrpSpPr>
        <p:grpSpPr>
          <a:xfrm>
            <a:off x="73" y="203402"/>
            <a:ext cx="286229" cy="581388"/>
            <a:chOff x="2151529" y="1089212"/>
            <a:chExt cx="228398" cy="463923"/>
          </a:xfrm>
        </p:grpSpPr>
        <p:sp>
          <p:nvSpPr>
            <p:cNvPr id="204" name="Google Shape;204;g3bbd96013e6_0_193"/>
            <p:cNvSpPr/>
            <p:nvPr/>
          </p:nvSpPr>
          <p:spPr>
            <a:xfrm>
              <a:off x="2151529" y="1089212"/>
              <a:ext cx="228398" cy="309282"/>
            </a:xfrm>
            <a:custGeom>
              <a:rect b="b" l="l" r="r" t="t"/>
              <a:pathLst>
                <a:path extrusionOk="0" h="309282" w="289112">
                  <a:moveTo>
                    <a:pt x="0" y="0"/>
                  </a:moveTo>
                  <a:lnTo>
                    <a:pt x="0" y="309282"/>
                  </a:lnTo>
                  <a:lnTo>
                    <a:pt x="289112" y="1613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g3bbd96013e6_0_193"/>
            <p:cNvSpPr/>
            <p:nvPr/>
          </p:nvSpPr>
          <p:spPr>
            <a:xfrm>
              <a:off x="2151529" y="1243853"/>
              <a:ext cx="127747" cy="309282"/>
            </a:xfrm>
            <a:custGeom>
              <a:rect b="b" l="l" r="r" t="t"/>
              <a:pathLst>
                <a:path extrusionOk="0" h="309282" w="127747">
                  <a:moveTo>
                    <a:pt x="0" y="0"/>
                  </a:moveTo>
                  <a:lnTo>
                    <a:pt x="0" y="309282"/>
                  </a:lnTo>
                  <a:lnTo>
                    <a:pt x="127747" y="181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06" name="Google Shape;206;g3bbd96013e6_0_19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89973" y="4667572"/>
            <a:ext cx="1266190" cy="349458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g3bbd96013e6_0_193"/>
          <p:cNvSpPr txBox="1"/>
          <p:nvPr/>
        </p:nvSpPr>
        <p:spPr>
          <a:xfrm>
            <a:off x="311744" y="4800600"/>
            <a:ext cx="24672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© 2025 Miracle Software Systems, Inc. | #</a:t>
            </a:r>
            <a:fld id="{00000000-1234-1234-1234-123412341234}" type="slidenum">
              <a:rPr b="1" lang="en-US" sz="1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sz="100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g3bbd96013e6_0_193"/>
          <p:cNvSpPr txBox="1"/>
          <p:nvPr>
            <p:ph idx="1" type="body"/>
          </p:nvPr>
        </p:nvSpPr>
        <p:spPr>
          <a:xfrm>
            <a:off x="437630" y="125222"/>
            <a:ext cx="8307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9" name="Google Shape;209;g3bbd96013e6_0_193"/>
          <p:cNvSpPr txBox="1"/>
          <p:nvPr>
            <p:ph idx="2" type="body"/>
          </p:nvPr>
        </p:nvSpPr>
        <p:spPr>
          <a:xfrm>
            <a:off x="276225" y="951768"/>
            <a:ext cx="8469000" cy="3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 Slide">
  <p:cSld name="Comparison Slide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bbd96013e6_0_201"/>
          <p:cNvSpPr txBox="1"/>
          <p:nvPr>
            <p:ph idx="1" type="body"/>
          </p:nvPr>
        </p:nvSpPr>
        <p:spPr>
          <a:xfrm>
            <a:off x="437630" y="125222"/>
            <a:ext cx="8307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b="1" sz="27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12" name="Google Shape;212;g3bbd96013e6_0_201"/>
          <p:cNvSpPr txBox="1"/>
          <p:nvPr>
            <p:ph idx="2" type="body"/>
          </p:nvPr>
        </p:nvSpPr>
        <p:spPr>
          <a:xfrm>
            <a:off x="434486" y="1546109"/>
            <a:ext cx="3993000" cy="29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indent="-3238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13" name="Google Shape;213;g3bbd96013e6_0_201"/>
          <p:cNvSpPr txBox="1"/>
          <p:nvPr>
            <p:ph idx="3" type="body"/>
          </p:nvPr>
        </p:nvSpPr>
        <p:spPr>
          <a:xfrm>
            <a:off x="4741335" y="1546109"/>
            <a:ext cx="3993000" cy="29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indent="-3238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14" name="Google Shape;214;g3bbd96013e6_0_201"/>
          <p:cNvSpPr/>
          <p:nvPr/>
        </p:nvSpPr>
        <p:spPr>
          <a:xfrm>
            <a:off x="434487" y="971756"/>
            <a:ext cx="3548700" cy="405300"/>
          </a:xfrm>
          <a:prstGeom prst="rect">
            <a:avLst/>
          </a:prstGeom>
          <a:solidFill>
            <a:srgbClr val="E1E0E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g3bbd96013e6_0_201"/>
          <p:cNvSpPr/>
          <p:nvPr/>
        </p:nvSpPr>
        <p:spPr>
          <a:xfrm>
            <a:off x="3983286" y="974085"/>
            <a:ext cx="237554" cy="401384"/>
          </a:xfrm>
          <a:custGeom>
            <a:rect b="b" l="l" r="r" t="t"/>
            <a:pathLst>
              <a:path extrusionOk="0" h="622300" w="368300">
                <a:moveTo>
                  <a:pt x="0" y="0"/>
                </a:moveTo>
                <a:lnTo>
                  <a:pt x="368300" y="101600"/>
                </a:lnTo>
                <a:lnTo>
                  <a:pt x="0" y="622300"/>
                </a:lnTo>
                <a:lnTo>
                  <a:pt x="0" y="0"/>
                </a:lnTo>
                <a:close/>
              </a:path>
            </a:pathLst>
          </a:custGeom>
          <a:solidFill>
            <a:schemeClr val="dk1">
              <a:alpha val="8471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g3bbd96013e6_0_201"/>
          <p:cNvSpPr/>
          <p:nvPr/>
        </p:nvSpPr>
        <p:spPr>
          <a:xfrm>
            <a:off x="3983288" y="1129133"/>
            <a:ext cx="290060" cy="246551"/>
          </a:xfrm>
          <a:custGeom>
            <a:rect b="b" l="l" r="r" t="t"/>
            <a:pathLst>
              <a:path extrusionOk="0" h="382249" w="449705">
                <a:moveTo>
                  <a:pt x="0" y="382249"/>
                </a:moveTo>
                <a:lnTo>
                  <a:pt x="262328" y="0"/>
                </a:lnTo>
                <a:lnTo>
                  <a:pt x="449705" y="179882"/>
                </a:lnTo>
                <a:lnTo>
                  <a:pt x="0" y="382249"/>
                </a:lnTo>
                <a:close/>
              </a:path>
            </a:pathLst>
          </a:custGeom>
          <a:solidFill>
            <a:schemeClr val="accent1">
              <a:alpha val="8471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g3bbd96013e6_0_201"/>
          <p:cNvSpPr/>
          <p:nvPr/>
        </p:nvSpPr>
        <p:spPr>
          <a:xfrm>
            <a:off x="4741335" y="971756"/>
            <a:ext cx="3548700" cy="405300"/>
          </a:xfrm>
          <a:prstGeom prst="rect">
            <a:avLst/>
          </a:prstGeom>
          <a:solidFill>
            <a:srgbClr val="E1E0E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g3bbd96013e6_0_201"/>
          <p:cNvSpPr/>
          <p:nvPr/>
        </p:nvSpPr>
        <p:spPr>
          <a:xfrm>
            <a:off x="8290136" y="974085"/>
            <a:ext cx="237554" cy="401384"/>
          </a:xfrm>
          <a:custGeom>
            <a:rect b="b" l="l" r="r" t="t"/>
            <a:pathLst>
              <a:path extrusionOk="0" h="622300" w="368300">
                <a:moveTo>
                  <a:pt x="0" y="0"/>
                </a:moveTo>
                <a:lnTo>
                  <a:pt x="368300" y="101600"/>
                </a:lnTo>
                <a:lnTo>
                  <a:pt x="0" y="622300"/>
                </a:lnTo>
                <a:lnTo>
                  <a:pt x="0" y="0"/>
                </a:lnTo>
                <a:close/>
              </a:path>
            </a:pathLst>
          </a:custGeom>
          <a:solidFill>
            <a:schemeClr val="dk1">
              <a:alpha val="8471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g3bbd96013e6_0_201"/>
          <p:cNvSpPr/>
          <p:nvPr/>
        </p:nvSpPr>
        <p:spPr>
          <a:xfrm>
            <a:off x="8290135" y="1129133"/>
            <a:ext cx="290060" cy="246551"/>
          </a:xfrm>
          <a:custGeom>
            <a:rect b="b" l="l" r="r" t="t"/>
            <a:pathLst>
              <a:path extrusionOk="0" h="382249" w="449705">
                <a:moveTo>
                  <a:pt x="0" y="382249"/>
                </a:moveTo>
                <a:lnTo>
                  <a:pt x="262328" y="0"/>
                </a:lnTo>
                <a:lnTo>
                  <a:pt x="449705" y="179882"/>
                </a:lnTo>
                <a:lnTo>
                  <a:pt x="0" y="382249"/>
                </a:lnTo>
                <a:close/>
              </a:path>
            </a:pathLst>
          </a:custGeom>
          <a:solidFill>
            <a:srgbClr val="EF404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g3bbd96013e6_0_201"/>
          <p:cNvSpPr txBox="1"/>
          <p:nvPr>
            <p:ph idx="4" type="body"/>
          </p:nvPr>
        </p:nvSpPr>
        <p:spPr>
          <a:xfrm>
            <a:off x="495208" y="1021976"/>
            <a:ext cx="33339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1" name="Google Shape;221;g3bbd96013e6_0_201"/>
          <p:cNvSpPr txBox="1"/>
          <p:nvPr>
            <p:ph idx="5" type="body"/>
          </p:nvPr>
        </p:nvSpPr>
        <p:spPr>
          <a:xfrm>
            <a:off x="4814085" y="1021976"/>
            <a:ext cx="33339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222" name="Google Shape;222;g3bbd96013e6_0_20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89973" y="4667572"/>
            <a:ext cx="1266190" cy="349458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g3bbd96013e6_0_201"/>
          <p:cNvSpPr txBox="1"/>
          <p:nvPr/>
        </p:nvSpPr>
        <p:spPr>
          <a:xfrm>
            <a:off x="311744" y="4800600"/>
            <a:ext cx="24672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© 2025 Miracle Software Systems, Inc. | #</a:t>
            </a:r>
            <a:fld id="{00000000-1234-1234-1234-123412341234}" type="slidenum">
              <a:rPr b="1" lang="en-US" sz="1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sz="100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4" name="Google Shape;224;g3bbd96013e6_0_201"/>
          <p:cNvGrpSpPr/>
          <p:nvPr/>
        </p:nvGrpSpPr>
        <p:grpSpPr>
          <a:xfrm>
            <a:off x="73" y="203402"/>
            <a:ext cx="286229" cy="581388"/>
            <a:chOff x="2151529" y="1089212"/>
            <a:chExt cx="228398" cy="463923"/>
          </a:xfrm>
        </p:grpSpPr>
        <p:sp>
          <p:nvSpPr>
            <p:cNvPr id="225" name="Google Shape;225;g3bbd96013e6_0_201"/>
            <p:cNvSpPr/>
            <p:nvPr/>
          </p:nvSpPr>
          <p:spPr>
            <a:xfrm>
              <a:off x="2151529" y="1089212"/>
              <a:ext cx="228398" cy="309282"/>
            </a:xfrm>
            <a:custGeom>
              <a:rect b="b" l="l" r="r" t="t"/>
              <a:pathLst>
                <a:path extrusionOk="0" h="309282" w="289112">
                  <a:moveTo>
                    <a:pt x="0" y="0"/>
                  </a:moveTo>
                  <a:lnTo>
                    <a:pt x="0" y="309282"/>
                  </a:lnTo>
                  <a:lnTo>
                    <a:pt x="289112" y="1613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g3bbd96013e6_0_201"/>
            <p:cNvSpPr/>
            <p:nvPr/>
          </p:nvSpPr>
          <p:spPr>
            <a:xfrm>
              <a:off x="2151529" y="1243853"/>
              <a:ext cx="127747" cy="309282"/>
            </a:xfrm>
            <a:custGeom>
              <a:rect b="b" l="l" r="r" t="t"/>
              <a:pathLst>
                <a:path extrusionOk="0" h="309282" w="127747">
                  <a:moveTo>
                    <a:pt x="0" y="0"/>
                  </a:moveTo>
                  <a:lnTo>
                    <a:pt x="0" y="309282"/>
                  </a:lnTo>
                  <a:lnTo>
                    <a:pt x="127747" y="181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bbd96013e6_0_0"/>
          <p:cNvSpPr txBox="1"/>
          <p:nvPr>
            <p:ph type="title"/>
          </p:nvPr>
        </p:nvSpPr>
        <p:spPr>
          <a:xfrm>
            <a:off x="628650" y="273845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1" name="Google Shape;11;g3bbd96013e6_0_0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g3bbd96013e6_0_0"/>
          <p:cNvSpPr txBox="1"/>
          <p:nvPr>
            <p:ph idx="10" type="dt"/>
          </p:nvPr>
        </p:nvSpPr>
        <p:spPr>
          <a:xfrm>
            <a:off x="628650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A8A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g3bbd96013e6_0_0"/>
          <p:cNvSpPr txBox="1"/>
          <p:nvPr>
            <p:ph idx="11" type="ftr"/>
          </p:nvPr>
        </p:nvSpPr>
        <p:spPr>
          <a:xfrm>
            <a:off x="3028950" y="476726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A8A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g3bbd96013e6_0_0"/>
          <p:cNvSpPr txBox="1"/>
          <p:nvPr>
            <p:ph idx="12" type="sldNum"/>
          </p:nvPr>
        </p:nvSpPr>
        <p:spPr>
          <a:xfrm>
            <a:off x="6457950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A8A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A8A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A8A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A8A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A8A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A8A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A8A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A8A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A8A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mc:AlternateContent>
    <mc:Choice Requires="p14">
      <p:transition spd="med">
        <p14:prism dir="l"/>
      </p:transition>
    </mc:Choice>
    <mc:Fallback>
      <p:transition spd="med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"/>
          <p:cNvSpPr/>
          <p:nvPr/>
        </p:nvSpPr>
        <p:spPr>
          <a:xfrm>
            <a:off x="1451925" y="1426721"/>
            <a:ext cx="3944700" cy="8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457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353"/>
              <a:buFont typeface="Calibri"/>
              <a:buNone/>
            </a:pPr>
            <a:r>
              <a:rPr b="1" i="0" lang="en-US" sz="4353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AI Data</a:t>
            </a:r>
            <a:r>
              <a:rPr b="1" lang="en-US" sz="4353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-US" sz="4353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Analyst</a:t>
            </a:r>
            <a:endParaRPr i="0" sz="4353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4" name="Google Shape;234;p1"/>
          <p:cNvSpPr/>
          <p:nvPr/>
        </p:nvSpPr>
        <p:spPr>
          <a:xfrm>
            <a:off x="1451925" y="2530683"/>
            <a:ext cx="42864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713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704"/>
              <a:buFont typeface="Calibri"/>
              <a:buNone/>
            </a:pPr>
            <a:r>
              <a:rPr i="0" lang="en-US" sz="1704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Empowering Data-Driven Decisions through Natural Language Processing</a:t>
            </a:r>
            <a:endParaRPr i="0" sz="1704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mc:AlternateContent>
    <mc:Choice Requires="p14">
      <p:transition spd="slow" p14:dur="1000">
        <p14:prism dir="l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"/>
          <p:cNvSpPr/>
          <p:nvPr/>
        </p:nvSpPr>
        <p:spPr>
          <a:xfrm>
            <a:off x="571500" y="428625"/>
            <a:ext cx="4457700" cy="16458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4075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Traditional Data Analysis Faces Significant Technical Barriers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1" name="Google Shape;24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450" y="1839128"/>
            <a:ext cx="150019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"/>
          <p:cNvSpPr/>
          <p:nvPr/>
        </p:nvSpPr>
        <p:spPr>
          <a:xfrm>
            <a:off x="864344" y="1839128"/>
            <a:ext cx="41649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3934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90"/>
              <a:buFont typeface="Calibri"/>
              <a:buNone/>
            </a:pPr>
            <a:r>
              <a:rPr b="1" i="0" lang="en-US" sz="109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SQL Expertise Gap:</a:t>
            </a:r>
            <a:r>
              <a:rPr b="0" i="0" lang="en-US" sz="1159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Business users often lack the technical skills to query complex databases directly.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3" name="Google Shape;24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69578"/>
            <a:ext cx="128588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"/>
          <p:cNvSpPr/>
          <p:nvPr/>
        </p:nvSpPr>
        <p:spPr>
          <a:xfrm>
            <a:off x="842963" y="2469578"/>
            <a:ext cx="41862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3934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90"/>
              <a:buFont typeface="Calibri"/>
              <a:buNone/>
            </a:pPr>
            <a:r>
              <a:rPr b="1" i="0" lang="en-US" sz="109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Operational Bottlenecks:</a:t>
            </a:r>
            <a:r>
              <a:rPr b="0" i="0" lang="en-US" sz="1159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High dependency on data teams leads to significant delays in decision-making.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5" name="Google Shape;245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064703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"/>
          <p:cNvSpPr/>
          <p:nvPr/>
        </p:nvSpPr>
        <p:spPr>
          <a:xfrm>
            <a:off x="885825" y="3064703"/>
            <a:ext cx="41433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3934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90"/>
              <a:buFont typeface="Calibri"/>
              <a:buNone/>
            </a:pPr>
            <a:r>
              <a:rPr b="1" i="0" lang="en-US" sz="109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Manual Errors:</a:t>
            </a:r>
            <a:r>
              <a:rPr b="0" i="0" lang="en-US" sz="1159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Hand-written queries are prone to syntax errors and schema misunderstandings.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"/>
          <p:cNvSpPr/>
          <p:nvPr/>
        </p:nvSpPr>
        <p:spPr>
          <a:xfrm>
            <a:off x="885825" y="3536303"/>
            <a:ext cx="43149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3934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90"/>
              <a:buFont typeface="Calibri"/>
              <a:buNone/>
            </a:pPr>
            <a:r>
              <a:rPr b="1" i="0" lang="en-US" sz="109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 Missing Link:</a:t>
            </a:r>
            <a:r>
              <a:rPr b="0" i="0" lang="en-US" sz="1159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A critical need exists for a bridge between human language and structured data.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"/>
          <p:cNvSpPr/>
          <p:nvPr/>
        </p:nvSpPr>
        <p:spPr>
          <a:xfrm>
            <a:off x="5586413" y="571500"/>
            <a:ext cx="3000375" cy="31432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9" name="Google Shape;249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86413" y="571500"/>
            <a:ext cx="3000375" cy="314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med">
        <p14:prism dir="l"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"/>
          <p:cNvSpPr/>
          <p:nvPr/>
        </p:nvSpPr>
        <p:spPr>
          <a:xfrm>
            <a:off x="571500" y="428625"/>
            <a:ext cx="8572500" cy="848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782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755"/>
              <a:buFont typeface="Calibri"/>
              <a:buNone/>
            </a:pPr>
            <a:r>
              <a:rPr b="1" i="0" lang="en-US" sz="2755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Seamless Natural Language</a:t>
            </a:r>
            <a:br>
              <a:rPr b="1" i="0" lang="en-US" sz="2755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755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to SQL Conversion</a:t>
            </a:r>
            <a:endParaRPr b="0" i="0" sz="27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3"/>
          <p:cNvSpPr/>
          <p:nvPr/>
        </p:nvSpPr>
        <p:spPr>
          <a:xfrm>
            <a:off x="571500" y="1963080"/>
            <a:ext cx="2257425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ts val="1193"/>
              <a:buFont typeface="Calibri"/>
              <a:buNone/>
            </a:pPr>
            <a:r>
              <a:rPr b="1" i="0" lang="en-US" sz="1393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Intent Interpretation</a:t>
            </a:r>
            <a:endParaRPr b="0" i="0" sz="13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3"/>
          <p:cNvSpPr/>
          <p:nvPr/>
        </p:nvSpPr>
        <p:spPr>
          <a:xfrm>
            <a:off x="571500" y="2282763"/>
            <a:ext cx="225742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Leverages advanced Large Language Models (LLMs) to accurately interpret user intent from natural language questions.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3"/>
          <p:cNvSpPr/>
          <p:nvPr/>
        </p:nvSpPr>
        <p:spPr>
          <a:xfrm>
            <a:off x="3114675" y="1963080"/>
            <a:ext cx="2257425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ts val="1193"/>
              <a:buFont typeface="Calibri"/>
              <a:buNone/>
            </a:pPr>
            <a:r>
              <a:rPr b="1" i="0" lang="en-US" sz="1393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Context Awareness</a:t>
            </a:r>
            <a:endParaRPr b="0" i="0" sz="13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3"/>
          <p:cNvSpPr/>
          <p:nvPr/>
        </p:nvSpPr>
        <p:spPr>
          <a:xfrm>
            <a:off x="3114675" y="2282763"/>
            <a:ext cx="225742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Automates the extraction of database schemas to provide the LLM with the necessary context for precise query generation.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3"/>
          <p:cNvSpPr/>
          <p:nvPr/>
        </p:nvSpPr>
        <p:spPr>
          <a:xfrm>
            <a:off x="571500" y="3713299"/>
            <a:ext cx="2257425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ts val="1193"/>
              <a:buFont typeface="Calibri"/>
              <a:buNone/>
            </a:pPr>
            <a:r>
              <a:rPr b="1" i="0" lang="en-US" sz="1393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Security First</a:t>
            </a:r>
            <a:endParaRPr b="0" i="0" sz="13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3"/>
          <p:cNvSpPr/>
          <p:nvPr/>
        </p:nvSpPr>
        <p:spPr>
          <a:xfrm>
            <a:off x="571500" y="4032982"/>
            <a:ext cx="225742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Ensures data integrity by strictly executing only read-only SELECT queries, preventing unauthorized modifications.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3"/>
          <p:cNvSpPr/>
          <p:nvPr/>
        </p:nvSpPr>
        <p:spPr>
          <a:xfrm>
            <a:off x="3114675" y="3713299"/>
            <a:ext cx="2257425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ts val="1193"/>
              <a:buFont typeface="Calibri"/>
              <a:buNone/>
            </a:pPr>
            <a:r>
              <a:rPr b="1" i="0" lang="en-US" sz="1393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Local Deployment</a:t>
            </a:r>
            <a:endParaRPr b="0" i="0" sz="13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3"/>
          <p:cNvSpPr/>
          <p:nvPr/>
        </p:nvSpPr>
        <p:spPr>
          <a:xfrm>
            <a:off x="3114675" y="4032982"/>
            <a:ext cx="225742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Designed for local execution, ensuring maximum data privacy, zero latency, and complete control over the environment.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3"/>
          <p:cNvSpPr/>
          <p:nvPr/>
        </p:nvSpPr>
        <p:spPr>
          <a:xfrm>
            <a:off x="5715000" y="1791630"/>
            <a:ext cx="2857500" cy="32146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5" name="Google Shape;265;p3"/>
          <p:cNvPicPr preferRelativeResize="0"/>
          <p:nvPr/>
        </p:nvPicPr>
        <p:blipFill rotWithShape="1">
          <a:blip r:embed="rId3">
            <a:alphaModFix amt="90000"/>
          </a:blip>
          <a:srcRect b="0" l="0" r="0" t="0"/>
          <a:stretch/>
        </p:blipFill>
        <p:spPr>
          <a:xfrm>
            <a:off x="5715000" y="1791630"/>
            <a:ext cx="2857500" cy="3214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"/>
          <p:cNvSpPr/>
          <p:nvPr/>
        </p:nvSpPr>
        <p:spPr>
          <a:xfrm>
            <a:off x="571500" y="428625"/>
            <a:ext cx="8572500" cy="9322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Built on Robust and Modern</a:t>
            </a:r>
            <a:br>
              <a:rPr b="1" i="0" lang="en-US" sz="2436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436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Open-Source Technologies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2" name="Google Shape;27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4394" y="2138660"/>
            <a:ext cx="175022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4"/>
          <p:cNvSpPr/>
          <p:nvPr/>
        </p:nvSpPr>
        <p:spPr>
          <a:xfrm>
            <a:off x="1146572" y="2082403"/>
            <a:ext cx="1640663" cy="312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ts val="1602"/>
              <a:buFont typeface="Calibri"/>
              <a:buNone/>
            </a:pPr>
            <a:r>
              <a:rPr b="1" i="0" lang="en-US" sz="1602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Python 3.11+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4"/>
          <p:cNvSpPr/>
          <p:nvPr/>
        </p:nvSpPr>
        <p:spPr>
          <a:xfrm>
            <a:off x="864394" y="2509242"/>
            <a:ext cx="3414713" cy="6171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The core foundation for </a:t>
            </a:r>
            <a:r>
              <a:rPr b="1" i="0" lang="en-US" sz="885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high-performance</a:t>
            </a:r>
            <a:r>
              <a:rPr b="0" i="0" lang="en-US" sz="94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data processing, offering extensive library support and seamless integration capabilities.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5" name="Google Shape;27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64894" y="2294930"/>
            <a:ext cx="250031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4"/>
          <p:cNvSpPr/>
          <p:nvPr/>
        </p:nvSpPr>
        <p:spPr>
          <a:xfrm>
            <a:off x="5222081" y="2082403"/>
            <a:ext cx="3057525" cy="625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ts val="1602"/>
              <a:buFont typeface="Calibri"/>
              <a:buNone/>
            </a:pPr>
            <a:r>
              <a:rPr b="1" i="0" lang="en-US" sz="1602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LangChain &amp; SQLAlchemy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4"/>
          <p:cNvSpPr/>
          <p:nvPr/>
        </p:nvSpPr>
        <p:spPr>
          <a:xfrm>
            <a:off x="4864894" y="2821781"/>
            <a:ext cx="3414713" cy="6171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Providing the essential framework for </a:t>
            </a:r>
            <a:r>
              <a:rPr b="1" i="0" lang="en-US" sz="885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LLM orchestration</a:t>
            </a:r>
            <a:r>
              <a:rPr b="0" i="0" lang="en-US" sz="94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and standardized database interaction across various SQL dialects.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8" name="Google Shape;27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4394" y="3853160"/>
            <a:ext cx="2000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4"/>
          <p:cNvSpPr/>
          <p:nvPr/>
        </p:nvSpPr>
        <p:spPr>
          <a:xfrm>
            <a:off x="1171575" y="3796903"/>
            <a:ext cx="2767450" cy="312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ts val="1602"/>
              <a:buFont typeface="Calibri"/>
              <a:buNone/>
            </a:pPr>
            <a:r>
              <a:rPr b="1" i="0" lang="en-US" sz="1602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Ollama &amp; DeepSeek-R1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4"/>
          <p:cNvSpPr/>
          <p:nvPr/>
        </p:nvSpPr>
        <p:spPr>
          <a:xfrm>
            <a:off x="864394" y="4223742"/>
            <a:ext cx="3414713" cy="6171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Utilizing state-of-the-art </a:t>
            </a:r>
            <a:r>
              <a:rPr b="1" i="0" lang="en-US" sz="885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local LLMs</a:t>
            </a:r>
            <a:r>
              <a:rPr b="0" i="0" lang="en-US" sz="94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to ensure precise SQL generation while maintaining complete data sovereignty.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1" name="Google Shape;281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64894" y="3853160"/>
            <a:ext cx="225028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4"/>
          <p:cNvSpPr/>
          <p:nvPr/>
        </p:nvSpPr>
        <p:spPr>
          <a:xfrm>
            <a:off x="5197078" y="3796903"/>
            <a:ext cx="1303037" cy="312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ts val="1602"/>
              <a:buFont typeface="Calibri"/>
              <a:buNone/>
            </a:pPr>
            <a:r>
              <a:rPr b="1" i="0" lang="en-US" sz="1602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Streamlit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4"/>
          <p:cNvSpPr/>
          <p:nvPr/>
        </p:nvSpPr>
        <p:spPr>
          <a:xfrm>
            <a:off x="4864894" y="4223742"/>
            <a:ext cx="3414713" cy="6171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 sleek, </a:t>
            </a:r>
            <a:r>
              <a:rPr b="1" i="0" lang="en-US" sz="885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interactive frontend</a:t>
            </a:r>
            <a:r>
              <a:rPr b="0" i="0" lang="en-US" sz="94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that delivers a professional user experience with minimal development overhead.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5"/>
          <p:cNvSpPr/>
          <p:nvPr/>
        </p:nvSpPr>
        <p:spPr>
          <a:xfrm>
            <a:off x="571500" y="357188"/>
            <a:ext cx="8572500" cy="660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2575" spcFirstLastPara="1" rIns="0" wrap="square" tIns="0">
            <a:spAutoFit/>
          </a:bodyPr>
          <a:lstStyle/>
          <a:p>
            <a:pPr indent="0" lvl="0" marL="0" marR="0" rtl="0" algn="l">
              <a:lnSpc>
                <a:spcPct val="12258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21"/>
              <a:buFont typeface="Calibri"/>
              <a:buNone/>
            </a:pPr>
            <a:r>
              <a:rPr b="1" i="0" lang="en-US" sz="2121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 Streamlined Four-Step Process</a:t>
            </a:r>
            <a:br>
              <a:rPr b="1" i="0" lang="en-US" sz="2121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121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from Question to Answer</a:t>
            </a:r>
            <a:endParaRPr b="0" i="0" sz="21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5"/>
          <p:cNvSpPr/>
          <p:nvPr/>
        </p:nvSpPr>
        <p:spPr>
          <a:xfrm>
            <a:off x="571500" y="1317296"/>
            <a:ext cx="1893094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4500"/>
              </a:buClr>
              <a:buSzPts val="683"/>
              <a:buFont typeface="Calibri"/>
              <a:buNone/>
            </a:pPr>
            <a:r>
              <a:rPr b="1" i="0" lang="en-US" sz="1083" u="none" cap="none" strike="noStrike">
                <a:solidFill>
                  <a:srgbClr val="FF4500"/>
                </a:solidFill>
                <a:latin typeface="Roboto"/>
                <a:ea typeface="Roboto"/>
                <a:cs typeface="Roboto"/>
                <a:sym typeface="Roboto"/>
              </a:rPr>
              <a:t>STEP 01</a:t>
            </a:r>
            <a:endParaRPr b="1" i="0" sz="1083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1" name="Google Shape;291;p5"/>
          <p:cNvSpPr/>
          <p:nvPr/>
        </p:nvSpPr>
        <p:spPr>
          <a:xfrm>
            <a:off x="571500" y="1510178"/>
            <a:ext cx="1893094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Schema Extraction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5"/>
          <p:cNvSpPr/>
          <p:nvPr/>
        </p:nvSpPr>
        <p:spPr>
          <a:xfrm>
            <a:off x="571500" y="1776282"/>
            <a:ext cx="1893094" cy="4500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80"/>
              <a:buFont typeface="Calibri"/>
              <a:buNone/>
            </a:pPr>
            <a:r>
              <a:rPr b="0" i="0" lang="en-US" sz="98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Automatically inspects the SQLite database to map tables and columns for context.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5"/>
          <p:cNvSpPr/>
          <p:nvPr/>
        </p:nvSpPr>
        <p:spPr>
          <a:xfrm>
            <a:off x="2607469" y="1317296"/>
            <a:ext cx="1893094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4500"/>
              </a:buClr>
              <a:buSzPts val="683"/>
              <a:buFont typeface="Calibri"/>
              <a:buNone/>
            </a:pPr>
            <a:r>
              <a:rPr b="1" i="0" lang="en-US" sz="1083" u="none" cap="none" strike="noStrike">
                <a:solidFill>
                  <a:srgbClr val="FF4500"/>
                </a:solidFill>
                <a:latin typeface="Roboto"/>
                <a:ea typeface="Roboto"/>
                <a:cs typeface="Roboto"/>
                <a:sym typeface="Roboto"/>
              </a:rPr>
              <a:t>STEP 02</a:t>
            </a:r>
            <a:endParaRPr b="1" i="0" sz="1083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p5"/>
          <p:cNvSpPr/>
          <p:nvPr/>
        </p:nvSpPr>
        <p:spPr>
          <a:xfrm>
            <a:off x="2607469" y="1510178"/>
            <a:ext cx="1893094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Prompt Engineering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5"/>
          <p:cNvSpPr/>
          <p:nvPr/>
        </p:nvSpPr>
        <p:spPr>
          <a:xfrm>
            <a:off x="2607469" y="1776282"/>
            <a:ext cx="1893094" cy="4500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80"/>
              <a:buFont typeface="Calibri"/>
              <a:buNone/>
            </a:pPr>
            <a:r>
              <a:rPr b="0" i="0" lang="en-US" sz="98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Combines the extracted schema with the user's question into a structured prompt.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5"/>
          <p:cNvSpPr/>
          <p:nvPr/>
        </p:nvSpPr>
        <p:spPr>
          <a:xfrm>
            <a:off x="4643438" y="1317296"/>
            <a:ext cx="1893094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4500"/>
              </a:buClr>
              <a:buSzPts val="683"/>
              <a:buFont typeface="Calibri"/>
              <a:buNone/>
            </a:pPr>
            <a:r>
              <a:rPr b="1" i="0" lang="en-US" sz="1083" u="none" cap="none" strike="noStrike">
                <a:solidFill>
                  <a:srgbClr val="FF4500"/>
                </a:solidFill>
                <a:latin typeface="Roboto"/>
                <a:ea typeface="Roboto"/>
                <a:cs typeface="Roboto"/>
                <a:sym typeface="Roboto"/>
              </a:rPr>
              <a:t>STEP 03</a:t>
            </a:r>
            <a:endParaRPr b="1" i="0" sz="1083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7" name="Google Shape;297;p5"/>
          <p:cNvSpPr/>
          <p:nvPr/>
        </p:nvSpPr>
        <p:spPr>
          <a:xfrm>
            <a:off x="4643438" y="1510178"/>
            <a:ext cx="1893094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LLM Processing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5"/>
          <p:cNvSpPr/>
          <p:nvPr/>
        </p:nvSpPr>
        <p:spPr>
          <a:xfrm>
            <a:off x="4643438" y="1776282"/>
            <a:ext cx="1893094" cy="4500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80"/>
              <a:buFont typeface="Calibri"/>
              <a:buNone/>
            </a:pPr>
            <a:r>
              <a:rPr b="0" i="0" lang="en-US" sz="98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The DeepSeek model generates a valid SQL query based on the provided context.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5"/>
          <p:cNvSpPr/>
          <p:nvPr/>
        </p:nvSpPr>
        <p:spPr>
          <a:xfrm>
            <a:off x="6679406" y="1317296"/>
            <a:ext cx="1893094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4500"/>
              </a:buClr>
              <a:buSzPts val="683"/>
              <a:buFont typeface="Calibri"/>
              <a:buNone/>
            </a:pPr>
            <a:r>
              <a:rPr b="1" i="0" lang="en-US" sz="1083" u="none" cap="none" strike="noStrike">
                <a:solidFill>
                  <a:srgbClr val="FF4500"/>
                </a:solidFill>
                <a:latin typeface="Roboto"/>
                <a:ea typeface="Roboto"/>
                <a:cs typeface="Roboto"/>
                <a:sym typeface="Roboto"/>
              </a:rPr>
              <a:t>STEP 04</a:t>
            </a:r>
            <a:endParaRPr b="1" i="0" sz="1083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0" name="Google Shape;300;p5"/>
          <p:cNvSpPr/>
          <p:nvPr/>
        </p:nvSpPr>
        <p:spPr>
          <a:xfrm>
            <a:off x="6679406" y="1510178"/>
            <a:ext cx="1893094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Execution &amp; Display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5"/>
          <p:cNvSpPr/>
          <p:nvPr/>
        </p:nvSpPr>
        <p:spPr>
          <a:xfrm>
            <a:off x="6679406" y="1776282"/>
            <a:ext cx="1893094" cy="4500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80"/>
              <a:buFont typeface="Calibri"/>
              <a:buNone/>
            </a:pPr>
            <a:r>
              <a:rPr b="0" i="0" lang="en-US" sz="98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The query runs against the database, and results are presented in the Streamlit UI.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2" name="Google Shape;30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62132" y="2583526"/>
            <a:ext cx="3419735" cy="242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6"/>
          <p:cNvSpPr/>
          <p:nvPr/>
        </p:nvSpPr>
        <p:spPr>
          <a:xfrm>
            <a:off x="571500" y="428625"/>
            <a:ext cx="6429375" cy="8172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8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49"/>
              <a:buFont typeface="Calibri"/>
              <a:buNone/>
            </a:pPr>
            <a:r>
              <a:rPr b="1" i="0" lang="en-US" sz="2649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Precision-Engineered Prompts for Accurate Querying</a:t>
            </a:r>
            <a:endParaRPr i="0" sz="2649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9" name="Google Shape;309;p6"/>
          <p:cNvSpPr/>
          <p:nvPr/>
        </p:nvSpPr>
        <p:spPr>
          <a:xfrm>
            <a:off x="571500" y="1688771"/>
            <a:ext cx="3914775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ts val="784"/>
              <a:buFont typeface="Calibri"/>
              <a:buNone/>
            </a:pPr>
            <a:r>
              <a:rPr b="1" i="0" lang="en-US" sz="1084" u="none" cap="none" strike="noStrike">
                <a:solidFill>
                  <a:srgbClr val="0052CC"/>
                </a:solidFill>
                <a:latin typeface="Roboto"/>
                <a:ea typeface="Roboto"/>
                <a:cs typeface="Roboto"/>
                <a:sym typeface="Roboto"/>
              </a:rPr>
              <a:t>01 / SYSTEM ROLE</a:t>
            </a:r>
            <a:endParaRPr i="0" sz="1084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0" name="Google Shape;310;p6"/>
          <p:cNvSpPr/>
          <p:nvPr/>
        </p:nvSpPr>
        <p:spPr>
          <a:xfrm>
            <a:off x="571500" y="1929873"/>
            <a:ext cx="3914775" cy="273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97"/>
              <a:buFont typeface="Calibri"/>
              <a:buNone/>
            </a:pPr>
            <a:r>
              <a:rPr b="1" i="0" lang="en-US" sz="1397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Expert SQL Generator</a:t>
            </a:r>
            <a:endParaRPr i="0" sz="1397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1" name="Google Shape;311;p6"/>
          <p:cNvSpPr/>
          <p:nvPr/>
        </p:nvSpPr>
        <p:spPr>
          <a:xfrm>
            <a:off x="571500" y="2288846"/>
            <a:ext cx="39147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i="0" lang="en-US" sz="105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System prompts explicitly define the LLM as an </a:t>
            </a:r>
            <a:r>
              <a:rPr b="1" i="0" lang="en-US" sz="987" u="none" cap="none" strike="noStrike">
                <a:solidFill>
                  <a:srgbClr val="0052CC"/>
                </a:solidFill>
                <a:latin typeface="Roboto"/>
                <a:ea typeface="Roboto"/>
                <a:cs typeface="Roboto"/>
                <a:sym typeface="Roboto"/>
              </a:rPr>
              <a:t>Expert SQL Generator</a:t>
            </a:r>
            <a:r>
              <a:rPr i="0" lang="en-US" sz="105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, ensuring the model prioritizes technical accuracy and schema adherence.</a:t>
            </a:r>
            <a:endParaRPr i="0" sz="105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2" name="Google Shape;312;p6"/>
          <p:cNvSpPr/>
          <p:nvPr/>
        </p:nvSpPr>
        <p:spPr>
          <a:xfrm>
            <a:off x="4657725" y="1688771"/>
            <a:ext cx="3914775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ts val="784"/>
              <a:buFont typeface="Calibri"/>
              <a:buNone/>
            </a:pPr>
            <a:r>
              <a:rPr b="1" i="0" lang="en-US" sz="1084" u="none" cap="none" strike="noStrike">
                <a:solidFill>
                  <a:srgbClr val="0052CC"/>
                </a:solidFill>
                <a:latin typeface="Roboto"/>
                <a:ea typeface="Roboto"/>
                <a:cs typeface="Roboto"/>
                <a:sym typeface="Roboto"/>
              </a:rPr>
              <a:t>02 / CONSTRAINTS</a:t>
            </a:r>
            <a:endParaRPr i="0" sz="1084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" name="Google Shape;313;p6"/>
          <p:cNvSpPr/>
          <p:nvPr/>
        </p:nvSpPr>
        <p:spPr>
          <a:xfrm>
            <a:off x="4657725" y="1929873"/>
            <a:ext cx="3914775" cy="273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97"/>
              <a:buFont typeface="Calibri"/>
              <a:buNone/>
            </a:pPr>
            <a:r>
              <a:rPr b="1" i="0" lang="en-US" sz="1397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Strict Syntax Rules</a:t>
            </a:r>
            <a:endParaRPr i="0" sz="1397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4" name="Google Shape;314;p6"/>
          <p:cNvSpPr/>
          <p:nvPr/>
        </p:nvSpPr>
        <p:spPr>
          <a:xfrm>
            <a:off x="4657725" y="2288846"/>
            <a:ext cx="39147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i="0" lang="en-US" sz="105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Rigid constraints prevent the model from including preambles, explanations, or </a:t>
            </a:r>
            <a:r>
              <a:rPr b="1" i="0" lang="en-US" sz="987" u="none" cap="none" strike="noStrike">
                <a:solidFill>
                  <a:srgbClr val="0052CC"/>
                </a:solidFill>
                <a:latin typeface="Roboto"/>
                <a:ea typeface="Roboto"/>
                <a:cs typeface="Roboto"/>
                <a:sym typeface="Roboto"/>
              </a:rPr>
              <a:t>unsupported SQL features</a:t>
            </a:r>
            <a:r>
              <a:rPr i="0" lang="en-US" sz="105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, resulting in clean, executable code.</a:t>
            </a:r>
            <a:endParaRPr i="0" sz="105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5" name="Google Shape;315;p6"/>
          <p:cNvSpPr/>
          <p:nvPr/>
        </p:nvSpPr>
        <p:spPr>
          <a:xfrm>
            <a:off x="571500" y="3246109"/>
            <a:ext cx="3914775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ts val="784"/>
              <a:buFont typeface="Calibri"/>
              <a:buNone/>
            </a:pPr>
            <a:r>
              <a:rPr b="1" i="0" lang="en-US" sz="1084" u="none" cap="none" strike="noStrike">
                <a:solidFill>
                  <a:srgbClr val="0052CC"/>
                </a:solidFill>
                <a:latin typeface="Roboto"/>
                <a:ea typeface="Roboto"/>
                <a:cs typeface="Roboto"/>
                <a:sym typeface="Roboto"/>
              </a:rPr>
              <a:t>03 / POST-PROCESSING</a:t>
            </a:r>
            <a:endParaRPr i="0" sz="1084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6" name="Google Shape;316;p6"/>
          <p:cNvSpPr/>
          <p:nvPr/>
        </p:nvSpPr>
        <p:spPr>
          <a:xfrm>
            <a:off x="571500" y="3487210"/>
            <a:ext cx="3914775" cy="273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97"/>
              <a:buFont typeface="Calibri"/>
              <a:buNone/>
            </a:pPr>
            <a:r>
              <a:rPr b="1" i="0" lang="en-US" sz="1397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Automated Cleanup</a:t>
            </a:r>
            <a:endParaRPr i="0" sz="1397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" name="Google Shape;317;p6"/>
          <p:cNvSpPr/>
          <p:nvPr/>
        </p:nvSpPr>
        <p:spPr>
          <a:xfrm>
            <a:off x="571500" y="3846184"/>
            <a:ext cx="39147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i="0" lang="en-US" sz="105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Advanced regex-based processing removes </a:t>
            </a:r>
            <a:r>
              <a:rPr b="1" i="0" lang="en-US" sz="987" u="none" cap="none" strike="noStrike">
                <a:solidFill>
                  <a:srgbClr val="0052CC"/>
                </a:solidFill>
                <a:latin typeface="Roboto"/>
                <a:ea typeface="Roboto"/>
                <a:cs typeface="Roboto"/>
                <a:sym typeface="Roboto"/>
              </a:rPr>
              <a:t>"Think" tags</a:t>
            </a:r>
            <a:r>
              <a:rPr i="0" lang="en-US" sz="105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and non-SQL artifacts, sanitizing the LLM response for direct database execution.</a:t>
            </a:r>
            <a:endParaRPr i="0" sz="105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" name="Google Shape;318;p6"/>
          <p:cNvSpPr/>
          <p:nvPr/>
        </p:nvSpPr>
        <p:spPr>
          <a:xfrm>
            <a:off x="4657725" y="3246109"/>
            <a:ext cx="3914775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ts val="784"/>
              <a:buFont typeface="Calibri"/>
              <a:buNone/>
            </a:pPr>
            <a:r>
              <a:rPr b="1" i="0" lang="en-US" sz="1084" u="none" cap="none" strike="noStrike">
                <a:solidFill>
                  <a:srgbClr val="0052CC"/>
                </a:solidFill>
                <a:latin typeface="Roboto"/>
                <a:ea typeface="Roboto"/>
                <a:cs typeface="Roboto"/>
                <a:sym typeface="Roboto"/>
              </a:rPr>
              <a:t>04 / OPTIMIZATION</a:t>
            </a:r>
            <a:endParaRPr i="0" sz="1084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9" name="Google Shape;319;p6"/>
          <p:cNvSpPr/>
          <p:nvPr/>
        </p:nvSpPr>
        <p:spPr>
          <a:xfrm>
            <a:off x="4657725" y="3487210"/>
            <a:ext cx="3914775" cy="273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97"/>
              <a:buFont typeface="Calibri"/>
              <a:buNone/>
            </a:pPr>
            <a:r>
              <a:rPr b="1" i="0" lang="en-US" sz="1397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Zero Temperature</a:t>
            </a:r>
            <a:endParaRPr i="0" sz="1397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0" name="Google Shape;320;p6"/>
          <p:cNvSpPr/>
          <p:nvPr/>
        </p:nvSpPr>
        <p:spPr>
          <a:xfrm>
            <a:off x="4657725" y="3846184"/>
            <a:ext cx="39147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i="0" lang="en-US" sz="105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Model temperature is locked at </a:t>
            </a:r>
            <a:r>
              <a:rPr b="1" i="0" lang="en-US" sz="987" u="none" cap="none" strike="noStrike">
                <a:solidFill>
                  <a:srgbClr val="0052CC"/>
                </a:solidFill>
                <a:latin typeface="Roboto"/>
                <a:ea typeface="Roboto"/>
                <a:cs typeface="Roboto"/>
                <a:sym typeface="Roboto"/>
              </a:rPr>
              <a:t>0.0</a:t>
            </a:r>
            <a:r>
              <a:rPr i="0" lang="en-US" sz="105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to eliminate randomness, ensuring maximum consistency and reproducibility for every data query.</a:t>
            </a:r>
            <a:endParaRPr i="0" sz="105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7"/>
          <p:cNvSpPr/>
          <p:nvPr/>
        </p:nvSpPr>
        <p:spPr>
          <a:xfrm>
            <a:off x="531000" y="217125"/>
            <a:ext cx="3543300" cy="10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29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226"/>
              <a:buFont typeface="Calibri"/>
              <a:buNone/>
            </a:pPr>
            <a:r>
              <a:rPr b="1" i="0" lang="en-US" sz="2226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Empowering Users with a Simple and Intuitive Frontend</a:t>
            </a:r>
            <a:endParaRPr b="0" i="0" sz="22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7"/>
          <p:cNvSpPr/>
          <p:nvPr/>
        </p:nvSpPr>
        <p:spPr>
          <a:xfrm>
            <a:off x="531000" y="1732995"/>
            <a:ext cx="35433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90"/>
              <a:buFont typeface="Calibri"/>
              <a:buNone/>
            </a:pPr>
            <a:r>
              <a:rPr b="1" i="0" lang="en-US" sz="109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Natural Language Input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7"/>
          <p:cNvSpPr/>
          <p:nvPr/>
        </p:nvSpPr>
        <p:spPr>
          <a:xfrm>
            <a:off x="531000" y="2004458"/>
            <a:ext cx="35433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Streamlit-based interface allows users to type questions as if they were talking to a colleague, removing technical friction.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7"/>
          <p:cNvSpPr/>
          <p:nvPr/>
        </p:nvSpPr>
        <p:spPr>
          <a:xfrm>
            <a:off x="531000" y="2954577"/>
            <a:ext cx="35433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90"/>
              <a:buFont typeface="Calibri"/>
              <a:buNone/>
            </a:pPr>
            <a:r>
              <a:rPr b="1" i="0" lang="en-US" sz="109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Real-Time Feedback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7"/>
          <p:cNvSpPr/>
          <p:nvPr/>
        </p:nvSpPr>
        <p:spPr>
          <a:xfrm>
            <a:off x="531000" y="3226039"/>
            <a:ext cx="35433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Interactive elements like spinners and success notifications keep users engaged and informed during the analysis process.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7"/>
          <p:cNvSpPr/>
          <p:nvPr/>
        </p:nvSpPr>
        <p:spPr>
          <a:xfrm>
            <a:off x="531000" y="4176158"/>
            <a:ext cx="35433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90"/>
              <a:buFont typeface="Calibri"/>
              <a:buNone/>
            </a:pPr>
            <a:r>
              <a:rPr b="1" i="0" lang="en-US" sz="109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Clear Data Presentation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7"/>
          <p:cNvSpPr/>
          <p:nvPr/>
        </p:nvSpPr>
        <p:spPr>
          <a:xfrm>
            <a:off x="531000" y="4447620"/>
            <a:ext cx="35433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Results are formatted with high legibility, making complex database outputs easy to digest and act upon instantly.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7"/>
          <p:cNvSpPr/>
          <p:nvPr/>
        </p:nvSpPr>
        <p:spPr>
          <a:xfrm>
            <a:off x="4445775" y="360000"/>
            <a:ext cx="4286400" cy="3214800"/>
          </a:xfrm>
          <a:prstGeom prst="rect">
            <a:avLst/>
          </a:prstGeom>
          <a:solidFill>
            <a:srgbClr val="1A1A1A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4" name="Google Shape;33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7213" y="431438"/>
            <a:ext cx="4143375" cy="3071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8"/>
          <p:cNvSpPr/>
          <p:nvPr/>
        </p:nvSpPr>
        <p:spPr>
          <a:xfrm>
            <a:off x="571500" y="205875"/>
            <a:ext cx="85725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5125" spcFirstLastPara="1" rIns="0" wrap="square" tIns="0">
            <a:spAutoFit/>
          </a:bodyPr>
          <a:lstStyle/>
          <a:p>
            <a:pPr indent="0" lvl="0" marL="0" marR="0" rtl="0" algn="l">
              <a:lnSpc>
                <a:spcPct val="123152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Prioritizing Enterprise-Grade</a:t>
            </a:r>
            <a:br>
              <a:rPr b="1" i="0" lang="en-US" sz="2436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436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Security in Local Environments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8"/>
          <p:cNvSpPr/>
          <p:nvPr/>
        </p:nvSpPr>
        <p:spPr>
          <a:xfrm>
            <a:off x="571500" y="1556685"/>
            <a:ext cx="37863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4500"/>
              </a:buClr>
              <a:buSzPts val="683"/>
              <a:buFont typeface="Calibri"/>
              <a:buNone/>
            </a:pPr>
            <a:r>
              <a:rPr b="1" i="0" lang="en-US" sz="1383" u="none" cap="none" strike="noStrike">
                <a:solidFill>
                  <a:srgbClr val="FF4500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i="0" sz="1383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2" name="Google Shape;342;p8"/>
          <p:cNvSpPr/>
          <p:nvPr/>
        </p:nvSpPr>
        <p:spPr>
          <a:xfrm>
            <a:off x="571500" y="1774104"/>
            <a:ext cx="37863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ts val="1397"/>
              <a:buFont typeface="Calibri"/>
              <a:buNone/>
            </a:pPr>
            <a:r>
              <a:rPr b="1" i="0" lang="en-US" sz="1397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Local Execution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8"/>
          <p:cNvSpPr/>
          <p:nvPr/>
        </p:nvSpPr>
        <p:spPr>
          <a:xfrm>
            <a:off x="571550" y="2126122"/>
            <a:ext cx="3786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All data processing and LLM inference occur on-premise. No sensitive data ever leaves your local network, eliminating external exposure risks.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8"/>
          <p:cNvSpPr/>
          <p:nvPr/>
        </p:nvSpPr>
        <p:spPr>
          <a:xfrm>
            <a:off x="4786313" y="1556610"/>
            <a:ext cx="37863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4500"/>
              </a:buClr>
              <a:buSzPts val="683"/>
              <a:buFont typeface="Calibri"/>
              <a:buNone/>
            </a:pPr>
            <a:r>
              <a:rPr b="1" i="0" lang="en-US" sz="1383" u="none" cap="none" strike="noStrike">
                <a:solidFill>
                  <a:srgbClr val="FF4500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endParaRPr i="0" sz="1383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5" name="Google Shape;345;p8"/>
          <p:cNvSpPr/>
          <p:nvPr/>
        </p:nvSpPr>
        <p:spPr>
          <a:xfrm>
            <a:off x="4786376" y="1774129"/>
            <a:ext cx="37863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ts val="1397"/>
              <a:buFont typeface="Calibri"/>
              <a:buNone/>
            </a:pPr>
            <a:r>
              <a:rPr b="1" i="0" lang="en-US" sz="1397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Read-Only Access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8"/>
          <p:cNvSpPr/>
          <p:nvPr/>
        </p:nvSpPr>
        <p:spPr>
          <a:xfrm>
            <a:off x="4786313" y="2228859"/>
            <a:ext cx="3786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The system is architected to execute only SELECT queries. Destructive operations like DROP, DELETE, or UPDATE are strictly prohibited at the code level.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8"/>
          <p:cNvSpPr/>
          <p:nvPr/>
        </p:nvSpPr>
        <p:spPr>
          <a:xfrm>
            <a:off x="571550" y="3084984"/>
            <a:ext cx="37863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4500"/>
              </a:buClr>
              <a:buSzPts val="683"/>
              <a:buFont typeface="Calibri"/>
              <a:buNone/>
            </a:pPr>
            <a:r>
              <a:rPr b="1" i="0" lang="en-US" sz="1383" u="none" cap="none" strike="noStrike">
                <a:solidFill>
                  <a:srgbClr val="FF4500"/>
                </a:solidFill>
                <a:latin typeface="Roboto"/>
                <a:ea typeface="Roboto"/>
                <a:cs typeface="Roboto"/>
                <a:sym typeface="Roboto"/>
              </a:rPr>
              <a:t>03</a:t>
            </a:r>
            <a:endParaRPr i="0" sz="1383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8" name="Google Shape;348;p8"/>
          <p:cNvSpPr/>
          <p:nvPr/>
        </p:nvSpPr>
        <p:spPr>
          <a:xfrm>
            <a:off x="571550" y="3292153"/>
            <a:ext cx="37863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ts val="1397"/>
              <a:buFont typeface="Calibri"/>
              <a:buNone/>
            </a:pPr>
            <a:r>
              <a:rPr b="1" i="0" lang="en-US" sz="1397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Model Privacy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8"/>
          <p:cNvSpPr/>
          <p:nvPr/>
        </p:nvSpPr>
        <p:spPr>
          <a:xfrm>
            <a:off x="571550" y="3672557"/>
            <a:ext cx="3786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By utilizing Ollama for local model hosting, proprietary data is never used for training external models, ensuring complete intellectual property protection.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8"/>
          <p:cNvSpPr/>
          <p:nvPr/>
        </p:nvSpPr>
        <p:spPr>
          <a:xfrm>
            <a:off x="4786376" y="3220584"/>
            <a:ext cx="37863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4500"/>
              </a:buClr>
              <a:buSzPts val="683"/>
              <a:buFont typeface="Calibri"/>
              <a:buNone/>
            </a:pPr>
            <a:r>
              <a:rPr b="1" i="0" lang="en-US" sz="1383" u="none" cap="none" strike="noStrike">
                <a:solidFill>
                  <a:srgbClr val="FF4500"/>
                </a:solidFill>
                <a:latin typeface="Roboto"/>
                <a:ea typeface="Roboto"/>
                <a:cs typeface="Roboto"/>
                <a:sym typeface="Roboto"/>
              </a:rPr>
              <a:t>04</a:t>
            </a:r>
            <a:endParaRPr i="0" sz="1383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1" name="Google Shape;351;p8"/>
          <p:cNvSpPr/>
          <p:nvPr/>
        </p:nvSpPr>
        <p:spPr>
          <a:xfrm>
            <a:off x="4786376" y="3427753"/>
            <a:ext cx="37863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ts val="1397"/>
              <a:buFont typeface="Calibri"/>
              <a:buNone/>
            </a:pPr>
            <a:r>
              <a:rPr b="1" i="0" lang="en-US" sz="1397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SQLite Integration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8"/>
          <p:cNvSpPr/>
          <p:nvPr/>
        </p:nvSpPr>
        <p:spPr>
          <a:xfrm>
            <a:off x="4786376" y="3808157"/>
            <a:ext cx="3786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Leverages a lightweight, file-based database system that provides robust local storage without the security overhead of complex server-client architectures.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9"/>
          <p:cNvSpPr/>
          <p:nvPr/>
        </p:nvSpPr>
        <p:spPr>
          <a:xfrm>
            <a:off x="428625" y="428625"/>
            <a:ext cx="3960484" cy="9901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0050" spcFirstLastPara="1" rIns="0" wrap="square" tIns="0">
            <a:spAutoFit/>
          </a:bodyPr>
          <a:lstStyle/>
          <a:p>
            <a:pPr indent="0" lvl="0" marL="0" marR="0" rtl="0" algn="l">
              <a:lnSpc>
                <a:spcPct val="12258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21"/>
              <a:buFont typeface="Calibri"/>
              <a:buNone/>
            </a:pPr>
            <a:r>
              <a:rPr b="1" i="0" lang="en-US" sz="2121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Transforming Raw Amazon Data into Actionable Insights</a:t>
            </a:r>
            <a:endParaRPr b="0" i="0" sz="21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9"/>
          <p:cNvSpPr/>
          <p:nvPr/>
        </p:nvSpPr>
        <p:spPr>
          <a:xfrm>
            <a:off x="428625" y="1677693"/>
            <a:ext cx="561091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ts val="683"/>
              <a:buFont typeface="Calibri"/>
              <a:buNone/>
            </a:pPr>
            <a:r>
              <a:rPr b="1" i="0" lang="en-US" sz="783" u="none" cap="none" strike="noStrike">
                <a:solidFill>
                  <a:srgbClr val="0052CC"/>
                </a:solidFill>
                <a:latin typeface="Roboto"/>
                <a:ea typeface="Roboto"/>
                <a:cs typeface="Roboto"/>
                <a:sym typeface="Roboto"/>
              </a:rPr>
              <a:t>THE QUERY</a:t>
            </a:r>
            <a:endParaRPr i="0" sz="783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0" name="Google Shape;360;p9"/>
          <p:cNvSpPr/>
          <p:nvPr/>
        </p:nvSpPr>
        <p:spPr>
          <a:xfrm>
            <a:off x="428625" y="1816996"/>
            <a:ext cx="3960484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90"/>
              <a:buFont typeface="Calibri"/>
              <a:buNone/>
            </a:pPr>
            <a:r>
              <a:rPr b="1" i="0" lang="en-US" sz="1190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"Top 5 products by sales volume"</a:t>
            </a:r>
            <a:endParaRPr i="0" sz="119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1" name="Google Shape;361;p9"/>
          <p:cNvSpPr/>
          <p:nvPr/>
        </p:nvSpPr>
        <p:spPr>
          <a:xfrm>
            <a:off x="428625" y="2088459"/>
            <a:ext cx="3960484" cy="360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Calibri"/>
              <a:buNone/>
            </a:pPr>
            <a:r>
              <a:rPr i="0" lang="en-US" sz="1042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A simple natural-language request—no table names or joins required.</a:t>
            </a:r>
            <a:endParaRPr i="0" sz="1042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2" name="Google Shape;362;p9"/>
          <p:cNvSpPr/>
          <p:nvPr/>
        </p:nvSpPr>
        <p:spPr>
          <a:xfrm>
            <a:off x="428625" y="2693166"/>
            <a:ext cx="618381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ts val="683"/>
              <a:buFont typeface="Calibri"/>
              <a:buNone/>
            </a:pPr>
            <a:r>
              <a:rPr b="1" i="0" lang="en-US" sz="783" u="none" cap="none" strike="noStrike">
                <a:solidFill>
                  <a:srgbClr val="0052CC"/>
                </a:solidFill>
                <a:latin typeface="Roboto"/>
                <a:ea typeface="Roboto"/>
                <a:cs typeface="Roboto"/>
                <a:sym typeface="Roboto"/>
              </a:rPr>
              <a:t>THE ACTION</a:t>
            </a:r>
            <a:endParaRPr i="0" sz="783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3" name="Google Shape;363;p9"/>
          <p:cNvSpPr/>
          <p:nvPr/>
        </p:nvSpPr>
        <p:spPr>
          <a:xfrm>
            <a:off x="428625" y="2832469"/>
            <a:ext cx="3960484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90"/>
              <a:buFont typeface="Calibri"/>
              <a:buNone/>
            </a:pPr>
            <a:r>
              <a:rPr b="1" i="0" lang="en-US" sz="1190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Automated Schema Mapping</a:t>
            </a:r>
            <a:endParaRPr i="0" sz="119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4" name="Google Shape;364;p9"/>
          <p:cNvSpPr/>
          <p:nvPr/>
        </p:nvSpPr>
        <p:spPr>
          <a:xfrm>
            <a:off x="428625" y="3103931"/>
            <a:ext cx="3960484" cy="360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Calibri"/>
              <a:buNone/>
            </a:pPr>
            <a:r>
              <a:rPr i="0" lang="en-US" sz="1042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AI detects relevant tables and join keys and builds the SQL automatically.</a:t>
            </a:r>
            <a:endParaRPr i="0" sz="1042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5" name="Google Shape;365;p9"/>
          <p:cNvSpPr/>
          <p:nvPr/>
        </p:nvSpPr>
        <p:spPr>
          <a:xfrm>
            <a:off x="428625" y="3708639"/>
            <a:ext cx="587992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ts val="683"/>
              <a:buFont typeface="Calibri"/>
              <a:buNone/>
            </a:pPr>
            <a:r>
              <a:rPr b="1" i="0" lang="en-US" sz="783" u="none" cap="none" strike="noStrike">
                <a:solidFill>
                  <a:srgbClr val="0052CC"/>
                </a:solidFill>
                <a:latin typeface="Roboto"/>
                <a:ea typeface="Roboto"/>
                <a:cs typeface="Roboto"/>
                <a:sym typeface="Roboto"/>
              </a:rPr>
              <a:t>THE RESULT</a:t>
            </a:r>
            <a:endParaRPr i="0" sz="783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6" name="Google Shape;366;p9"/>
          <p:cNvSpPr/>
          <p:nvPr/>
        </p:nvSpPr>
        <p:spPr>
          <a:xfrm>
            <a:off x="428625" y="3847942"/>
            <a:ext cx="3960484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90"/>
              <a:buFont typeface="Calibri"/>
              <a:buNone/>
            </a:pPr>
            <a:r>
              <a:rPr b="1" i="0" lang="en-US" sz="1190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Instant Visualization</a:t>
            </a:r>
            <a:endParaRPr i="0" sz="119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7" name="Google Shape;367;p9"/>
          <p:cNvSpPr/>
          <p:nvPr/>
        </p:nvSpPr>
        <p:spPr>
          <a:xfrm>
            <a:off x="428625" y="4119404"/>
            <a:ext cx="3960484" cy="360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Calibri"/>
              <a:buNone/>
            </a:pPr>
            <a:r>
              <a:rPr i="0" lang="en-US" sz="1042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Structured results are returned, ready for analysis and visualization.</a:t>
            </a:r>
            <a:endParaRPr i="0" sz="1042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8" name="Google Shape;368;p9"/>
          <p:cNvSpPr/>
          <p:nvPr/>
        </p:nvSpPr>
        <p:spPr>
          <a:xfrm>
            <a:off x="4480527" y="571500"/>
            <a:ext cx="4572000" cy="300037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9" name="Google Shape;36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51964" y="642938"/>
            <a:ext cx="4429125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0"/>
          <p:cNvSpPr/>
          <p:nvPr/>
        </p:nvSpPr>
        <p:spPr>
          <a:xfrm>
            <a:off x="571500" y="318375"/>
            <a:ext cx="3543300" cy="6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29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226"/>
              <a:buFont typeface="Calibri"/>
              <a:buNone/>
            </a:pPr>
            <a:r>
              <a:rPr b="1" i="0" lang="en-US" sz="2226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Optimized for Speed and Future Growth</a:t>
            </a:r>
            <a:endParaRPr b="0" i="0" sz="22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0"/>
          <p:cNvSpPr/>
          <p:nvPr/>
        </p:nvSpPr>
        <p:spPr>
          <a:xfrm>
            <a:off x="571500" y="1691618"/>
            <a:ext cx="3543300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90"/>
              <a:buFont typeface="Calibri"/>
              <a:buNone/>
            </a:pPr>
            <a:r>
              <a:rPr b="1" i="0" lang="en-US" sz="109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Efficient Schema Caching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0"/>
          <p:cNvSpPr/>
          <p:nvPr/>
        </p:nvSpPr>
        <p:spPr>
          <a:xfrm>
            <a:off x="571500" y="1963080"/>
            <a:ext cx="3543300" cy="5786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Reduces overhead for repeated queries by caching database metadata, ensuring near-instant response times for frequent users.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0"/>
          <p:cNvSpPr/>
          <p:nvPr/>
        </p:nvSpPr>
        <p:spPr>
          <a:xfrm>
            <a:off x="571500" y="2593274"/>
            <a:ext cx="35433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90"/>
              <a:buFont typeface="Calibri"/>
              <a:buNone/>
            </a:pPr>
            <a:r>
              <a:rPr b="1" i="0" lang="en-US" sz="109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Flexible Model Support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0"/>
          <p:cNvSpPr/>
          <p:nvPr/>
        </p:nvSpPr>
        <p:spPr>
          <a:xfrm>
            <a:off x="571500" y="2864737"/>
            <a:ext cx="35433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Support for various Ollama models allows for scaling based on hardware capabilities, from lightweight to high-performance LLMs.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0"/>
          <p:cNvSpPr/>
          <p:nvPr/>
        </p:nvSpPr>
        <p:spPr>
          <a:xfrm>
            <a:off x="571500" y="3494930"/>
            <a:ext cx="35433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90"/>
              <a:buFont typeface="Calibri"/>
              <a:buNone/>
            </a:pPr>
            <a:r>
              <a:rPr b="1" i="0" lang="en-US" sz="109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Modular Architecture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0"/>
          <p:cNvSpPr/>
          <p:nvPr/>
        </p:nvSpPr>
        <p:spPr>
          <a:xfrm>
            <a:off x="571500" y="3757793"/>
            <a:ext cx="35433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Modular code structure enables easy integration with other database types like PostgreSQL and MySQL for enterprise-wide deployment.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2" name="Google Shape;38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86263" y="785813"/>
            <a:ext cx="4143375" cy="3071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1"/>
          <p:cNvSpPr/>
          <p:nvPr/>
        </p:nvSpPr>
        <p:spPr>
          <a:xfrm>
            <a:off x="389250" y="178913"/>
            <a:ext cx="85725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5125" spcFirstLastPara="1" rIns="0" wrap="square" tIns="0">
            <a:spAutoFit/>
          </a:bodyPr>
          <a:lstStyle/>
          <a:p>
            <a:pPr indent="0" lvl="0" marL="0" marR="0" rtl="0" algn="l">
              <a:lnSpc>
                <a:spcPct val="123152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Continuous Evolution of</a:t>
            </a:r>
            <a:br>
              <a:rPr b="1" i="0" lang="en-US" sz="2436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436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 AI Data Analyst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1"/>
          <p:cNvSpPr/>
          <p:nvPr/>
        </p:nvSpPr>
        <p:spPr>
          <a:xfrm>
            <a:off x="571500" y="1397273"/>
            <a:ext cx="1071563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4500"/>
              </a:buClr>
              <a:buSzPts val="683"/>
              <a:buFont typeface="Calibri"/>
              <a:buNone/>
            </a:pPr>
            <a:r>
              <a:rPr b="1" i="0" lang="en-US" sz="1283" u="none" cap="none" strike="noStrike">
                <a:solidFill>
                  <a:srgbClr val="FF4500"/>
                </a:solidFill>
                <a:latin typeface="Roboto"/>
                <a:ea typeface="Roboto"/>
                <a:cs typeface="Roboto"/>
                <a:sym typeface="Roboto"/>
              </a:rPr>
              <a:t>Phase 01</a:t>
            </a:r>
            <a:endParaRPr i="0" sz="1283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0" name="Google Shape;390;p11"/>
          <p:cNvSpPr/>
          <p:nvPr/>
        </p:nvSpPr>
        <p:spPr>
          <a:xfrm>
            <a:off x="1643063" y="1397273"/>
            <a:ext cx="6929438" cy="273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97"/>
              <a:buFont typeface="Calibri"/>
              <a:buNone/>
            </a:pPr>
            <a:r>
              <a:rPr b="1" i="0" lang="en-US" sz="1397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Data Visualization Integration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1"/>
          <p:cNvSpPr/>
          <p:nvPr/>
        </p:nvSpPr>
        <p:spPr>
          <a:xfrm>
            <a:off x="1643063" y="1713384"/>
            <a:ext cx="6929438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Native integration of Plotly and Altair libraries to automatically generate interactive charts and dashboards from query results.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1"/>
          <p:cNvSpPr/>
          <p:nvPr/>
        </p:nvSpPr>
        <p:spPr>
          <a:xfrm>
            <a:off x="571500" y="2299171"/>
            <a:ext cx="1071563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4500"/>
              </a:buClr>
              <a:buSzPts val="683"/>
              <a:buFont typeface="Calibri"/>
              <a:buNone/>
            </a:pPr>
            <a:r>
              <a:rPr b="1" i="0" lang="en-US" sz="1283" u="none" cap="none" strike="noStrike">
                <a:solidFill>
                  <a:srgbClr val="FF4500"/>
                </a:solidFill>
                <a:latin typeface="Roboto"/>
                <a:ea typeface="Roboto"/>
                <a:cs typeface="Roboto"/>
                <a:sym typeface="Roboto"/>
              </a:rPr>
              <a:t>Phase 02</a:t>
            </a:r>
            <a:endParaRPr i="0" sz="1283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3" name="Google Shape;393;p11"/>
          <p:cNvSpPr/>
          <p:nvPr/>
        </p:nvSpPr>
        <p:spPr>
          <a:xfrm>
            <a:off x="1643063" y="2299171"/>
            <a:ext cx="6929438" cy="273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97"/>
              <a:buFont typeface="Calibri"/>
              <a:buNone/>
            </a:pPr>
            <a:r>
              <a:rPr b="1" i="0" lang="en-US" sz="1397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Multi-turn Conversations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1"/>
          <p:cNvSpPr/>
          <p:nvPr/>
        </p:nvSpPr>
        <p:spPr>
          <a:xfrm>
            <a:off x="1643063" y="2615282"/>
            <a:ext cx="6929438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Support for contextual dialogue, allowing users to refine and drill down into data through natural, multi-step conversations.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1"/>
          <p:cNvSpPr/>
          <p:nvPr/>
        </p:nvSpPr>
        <p:spPr>
          <a:xfrm>
            <a:off x="571500" y="3201070"/>
            <a:ext cx="1071563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4500"/>
              </a:buClr>
              <a:buSzPts val="683"/>
              <a:buFont typeface="Calibri"/>
              <a:buNone/>
            </a:pPr>
            <a:r>
              <a:rPr b="1" i="0" lang="en-US" sz="1283" u="none" cap="none" strike="noStrike">
                <a:solidFill>
                  <a:srgbClr val="FF4500"/>
                </a:solidFill>
                <a:latin typeface="Roboto"/>
                <a:ea typeface="Roboto"/>
                <a:cs typeface="Roboto"/>
                <a:sym typeface="Roboto"/>
              </a:rPr>
              <a:t>Phase 03</a:t>
            </a:r>
            <a:endParaRPr i="0" sz="1283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6" name="Google Shape;396;p11"/>
          <p:cNvSpPr/>
          <p:nvPr/>
        </p:nvSpPr>
        <p:spPr>
          <a:xfrm>
            <a:off x="1643063" y="3201070"/>
            <a:ext cx="6929438" cy="273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97"/>
              <a:buFont typeface="Calibri"/>
              <a:buNone/>
            </a:pPr>
            <a:r>
              <a:rPr b="1" i="0" lang="en-US" sz="1397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Enhanced Error Handling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1"/>
          <p:cNvSpPr/>
          <p:nvPr/>
        </p:nvSpPr>
        <p:spPr>
          <a:xfrm>
            <a:off x="1643063" y="3517181"/>
            <a:ext cx="6929438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Advanced natural language explanations for query failures and automated suggestions for query refinement based on schema constraints.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1"/>
          <p:cNvSpPr/>
          <p:nvPr/>
        </p:nvSpPr>
        <p:spPr>
          <a:xfrm>
            <a:off x="571500" y="4102968"/>
            <a:ext cx="1071563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4500"/>
              </a:buClr>
              <a:buSzPts val="683"/>
              <a:buFont typeface="Calibri"/>
              <a:buNone/>
            </a:pPr>
            <a:r>
              <a:rPr b="1" i="0" lang="en-US" sz="1283" u="none" cap="none" strike="noStrike">
                <a:solidFill>
                  <a:srgbClr val="FF4500"/>
                </a:solidFill>
                <a:latin typeface="Roboto"/>
                <a:ea typeface="Roboto"/>
                <a:cs typeface="Roboto"/>
                <a:sym typeface="Roboto"/>
              </a:rPr>
              <a:t>Phase 04</a:t>
            </a:r>
            <a:endParaRPr i="0" sz="1283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9" name="Google Shape;399;p11"/>
          <p:cNvSpPr/>
          <p:nvPr/>
        </p:nvSpPr>
        <p:spPr>
          <a:xfrm>
            <a:off x="1643063" y="4034206"/>
            <a:ext cx="69294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97"/>
              <a:buFont typeface="Calibri"/>
              <a:buNone/>
            </a:pPr>
            <a:r>
              <a:rPr b="1" i="0" lang="en-US" sz="1397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Hybrid Cloud Expansion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1"/>
          <p:cNvSpPr/>
          <p:nvPr/>
        </p:nvSpPr>
        <p:spPr>
          <a:xfrm>
            <a:off x="1643076" y="4378367"/>
            <a:ext cx="69294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Expansion to support hybrid deployment options, integrating with cloud-based LLM providers while maintaining local data security.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med">
        <p14:prism dir="l"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2"/>
          <p:cNvSpPr/>
          <p:nvPr/>
        </p:nvSpPr>
        <p:spPr>
          <a:xfrm>
            <a:off x="1650374" y="956202"/>
            <a:ext cx="5843253" cy="10058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1469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293"/>
              <a:buFont typeface="Calibri"/>
              <a:buNone/>
            </a:pPr>
            <a:r>
              <a:rPr b="1" i="0" lang="en-US" sz="3293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 Future of Data</a:t>
            </a:r>
            <a:br>
              <a:rPr b="1" i="0" lang="en-US" sz="3293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293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Interaction is Natural</a:t>
            </a:r>
            <a:endParaRPr b="0" i="0" sz="32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2"/>
          <p:cNvSpPr/>
          <p:nvPr/>
        </p:nvSpPr>
        <p:spPr>
          <a:xfrm>
            <a:off x="571500" y="2669251"/>
            <a:ext cx="2476481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Democratization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2"/>
          <p:cNvSpPr/>
          <p:nvPr/>
        </p:nvSpPr>
        <p:spPr>
          <a:xfrm>
            <a:off x="571500" y="3010365"/>
            <a:ext cx="2476481" cy="5786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AI Data Analyst 2.0 empowers every user to access insights without needing technical SQL expertise.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2"/>
          <p:cNvSpPr/>
          <p:nvPr/>
        </p:nvSpPr>
        <p:spPr>
          <a:xfrm>
            <a:off x="3333731" y="2669251"/>
            <a:ext cx="2476509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Efficiency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2"/>
          <p:cNvSpPr/>
          <p:nvPr/>
        </p:nvSpPr>
        <p:spPr>
          <a:xfrm>
            <a:off x="3333731" y="3010365"/>
            <a:ext cx="2476509" cy="5786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Reduces the technical burden on data teams, allowing them to focus on high-value strategic initiatives.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2"/>
          <p:cNvSpPr/>
          <p:nvPr/>
        </p:nvSpPr>
        <p:spPr>
          <a:xfrm>
            <a:off x="6095991" y="2669251"/>
            <a:ext cx="2476481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2"/>
          <p:cNvSpPr/>
          <p:nvPr/>
        </p:nvSpPr>
        <p:spPr>
          <a:xfrm>
            <a:off x="6095991" y="3010365"/>
            <a:ext cx="2476481" cy="5786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 secure, private, and local solution designed to meet the rigorous demands of modern data challenges.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2"/>
          <p:cNvSpPr/>
          <p:nvPr/>
        </p:nvSpPr>
        <p:spPr>
          <a:xfrm>
            <a:off x="2945736" y="3874759"/>
            <a:ext cx="3252527" cy="312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FF4500"/>
              </a:buClr>
              <a:buSzPts val="1602"/>
              <a:buFont typeface="Calibri"/>
              <a:buNone/>
            </a:pPr>
            <a:r>
              <a:rPr b="1" i="0" lang="en-US" sz="1602" u="none" cap="none" strike="noStrike">
                <a:solidFill>
                  <a:srgbClr val="FF4500"/>
                </a:solidFill>
                <a:latin typeface="Calibri"/>
                <a:ea typeface="Calibri"/>
                <a:cs typeface="Calibri"/>
                <a:sym typeface="Calibri"/>
              </a:rPr>
              <a:t>Questions &amp; Answers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>
    <mc:Choice Requires="p14">
      <p:transition spd="med">
        <p14:prism dir="l"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iracle-2019-standard">
  <a:themeElements>
    <a:clrScheme name="Miracle_Colors">
      <a:dk1>
        <a:srgbClr val="232527"/>
      </a:dk1>
      <a:lt1>
        <a:srgbClr val="FFFFFF"/>
      </a:lt1>
      <a:dk2>
        <a:srgbClr val="00AAE7"/>
      </a:dk2>
      <a:lt2>
        <a:srgbClr val="FFFFFF"/>
      </a:lt2>
      <a:accent1>
        <a:srgbClr val="2468A0"/>
      </a:accent1>
      <a:accent2>
        <a:srgbClr val="00AAE7"/>
      </a:accent2>
      <a:accent3>
        <a:srgbClr val="0D416B"/>
      </a:accent3>
      <a:accent4>
        <a:srgbClr val="8C8C8C"/>
      </a:accent4>
      <a:accent5>
        <a:srgbClr val="232527"/>
      </a:accent5>
      <a:accent6>
        <a:srgbClr val="B7B3B3"/>
      </a:accent6>
      <a:hlink>
        <a:srgbClr val="2468A0"/>
      </a:hlink>
      <a:folHlink>
        <a:srgbClr val="23252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2026-01-26T14:55:46Z</dcterms:created>
  <dc:creator>PptxGenJS</dc:creator>
</cp:coreProperties>
</file>